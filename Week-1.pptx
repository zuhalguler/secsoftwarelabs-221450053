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custDataLst>
    <p:tags r:id="rId37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8A6026-6CF2-27CD-4D86-B04951FEA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6C50234-E620-BE14-590E-18242AE15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149A4C1-AE4A-5438-662C-06C80A9E8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83AD182-7179-B1F1-6D2F-AC8F4D47A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B265F-B068-8CCE-458A-A705CD72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6773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03D81B-56A6-861D-7D70-894D56A9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C59FE0-8350-3761-3587-AB01F87BD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5809E4-18A1-F587-9A05-5B0F01C7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065878-F97B-7C54-A5F9-99624A2E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2FB9C62-E266-1843-8BC5-263FED3DF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711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6E3CFA-E92E-BC66-1968-E5CAEC0E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2746C7D4-394A-E70C-0A7A-56E83AD02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54AF83-0F92-778D-9FC1-9DE53029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3BEA416-BCC5-F817-483E-CF74479A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106A08-ADC7-607B-F858-F6878867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99605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6AC940-06C1-0D30-BF91-4DE4C370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C8D243-8D53-6BB2-3137-510301A13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751B402-97A9-9BAA-3D40-CD0E01AA8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153E683-8CBC-7A97-D4FB-183A99E0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C2B4261-7F1F-6B09-7011-83F63867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91F391-BDAC-CD90-2A52-D9C2164C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451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5D4C0E-DC99-2205-3009-C35C7BA6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AC70485-BC4F-B08C-2207-8F471C353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3E0DB1-C175-C280-B5E4-FF191DB79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7AB863F-3E13-8EDC-D11C-130234B5E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39795F5-2A71-43F2-30B8-447D5070D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4DAD014-B002-E8B6-0D4B-38661B2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16BC362-B085-2A64-EACA-DFDF7ED0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2902740-4343-AA8C-19AB-49EFF903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43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5ACC9B-AEF7-8F92-122D-F348AC67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F415773-A2DB-9061-4BD2-D547418A8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DC1C3B0-432E-E004-E9BC-D4DE46D1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F93A151-08F1-16C4-5864-12F3C6C72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973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FD18C9B-4730-2690-0E8D-2D3C3F82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B6DE1D7F-CBB2-7A7D-0CF0-A8756758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FF8309E2-BC28-E1E3-F6AC-C2C12176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8674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4515FE-4A10-DB4F-5C67-2FD4E6D3E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C3127D-E408-4277-3DAC-F37D8E34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078A8BE-FE82-EEF9-429D-A4DC5FB79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656A302-9246-D3EA-41D6-8F411BEA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6C5367E-FF47-FA3B-2D24-28048840D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4C0EE06-A4B6-A2A3-9903-0CF923C3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496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AD0BB7-F1F6-9329-E6D9-430B8F14C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9148856-B601-695D-B483-5D42B9C87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388C4EC-4122-53D8-E44D-2BA58EC82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34CCAF0-3BB3-0AEC-16DE-14E7A05C8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D059282-CF26-9149-037F-9342161D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7145038-6222-C04A-00BB-069289DC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87908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94FEB0E-2D92-888C-492A-B7C0A888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2E5AE17-B523-8EA5-4EFB-718CE79D7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342D3B3-DE37-D7A7-5A9E-7FB9F109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8FD8AEF-73F3-E779-AF34-1D0B093B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58B4276-8BD3-8F14-EEF5-E6EE0007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261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8B326EDE-DC76-5D9A-8088-0D70D0766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0A005EA-0CD6-B086-CF4D-1B633BF3D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9D45508-3EC9-433B-7A85-30459E580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E3170DE-CCF8-A98C-1D8F-8EA544DEF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8B66969-2E8A-06FC-2207-898D35D66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4346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E17F1B91-FA2B-3A46-1B8C-E65C0CAD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3B5CA77-1754-DE7E-FDAD-8ABCD000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81A384A-A5DC-C750-E0AB-7A59AEBEA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A12CD-464A-4154-B9E2-F9B554490DD0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4C995C8-2E6E-FD1D-0052-02E71AC78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24102A-944D-F965-168E-7816645A1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7A53B-D035-4148-9107-D0E70D1CF4B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7447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mail@example.com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llaniciadi/SecSoftwareLab-2026123456.git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llaniciadi/SecSoftwareLab-2026123456.g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ullaniciadi/SecSoftwareLab-2026123456.git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EC364C-25C0-48E7-E1C3-7164285321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763"/>
            <a:ext cx="9144000" cy="2387600"/>
          </a:xfrm>
        </p:spPr>
        <p:txBody>
          <a:bodyPr/>
          <a:lstStyle/>
          <a:p>
            <a:r>
              <a:rPr lang="tr-TR" dirty="0"/>
              <a:t>Python Ortamı ve Git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D1E8F0-5C9D-F285-0DB1-7EE9E883F0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875002"/>
            <a:ext cx="908473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çalışma ortamımızı kontrol.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kodunun nasıl çalıştığını anlayacağız.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 ile Python arasındaki farkı göreceğiz.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Projeye özel sanal ortam oluşturacağız.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Git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repository'mizi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oluşturacağız.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README hazırlayacağız.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commit'imizi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oluşturacağız.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24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D7772A-BA70-A866-4DB5-9EF7DE515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IDE — </a:t>
            </a:r>
            <a:r>
              <a:rPr lang="tr-TR" dirty="0" err="1"/>
              <a:t>Integrated</a:t>
            </a:r>
            <a:r>
              <a:rPr lang="tr-TR" dirty="0"/>
              <a:t> Development Environment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0CFAA65-1E59-8655-FD4F-CFA328482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dirty="0"/>
              <a:t>Kod geliştirmeyi kolaylaştırır.</a:t>
            </a:r>
          </a:p>
          <a:p>
            <a:pPr marL="0" indent="0">
              <a:buNone/>
            </a:pPr>
            <a:r>
              <a:rPr lang="tr-TR" dirty="0"/>
              <a:t>Örneğin:</a:t>
            </a:r>
          </a:p>
          <a:p>
            <a:r>
              <a:rPr lang="tr-TR" dirty="0"/>
              <a:t>Kod renklendirme </a:t>
            </a:r>
          </a:p>
          <a:p>
            <a:r>
              <a:rPr lang="tr-TR" dirty="0"/>
              <a:t>Otomatik tamamlama </a:t>
            </a:r>
          </a:p>
          <a:p>
            <a:r>
              <a:rPr lang="tr-TR" dirty="0" err="1"/>
              <a:t>Debug</a:t>
            </a:r>
            <a:r>
              <a:rPr lang="tr-TR" dirty="0"/>
              <a:t> </a:t>
            </a:r>
          </a:p>
          <a:p>
            <a:r>
              <a:rPr lang="tr-TR" dirty="0"/>
              <a:t>Dosya yönetimi </a:t>
            </a:r>
          </a:p>
          <a:p>
            <a:r>
              <a:rPr lang="tr-TR" dirty="0"/>
              <a:t>Terminal </a:t>
            </a:r>
          </a:p>
          <a:p>
            <a:r>
              <a:rPr lang="tr-TR" dirty="0"/>
              <a:t>Git entegrasyonu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b="1" dirty="0"/>
              <a:t>Python Interpreter</a:t>
            </a:r>
          </a:p>
          <a:p>
            <a:r>
              <a:rPr lang="tr-TR" dirty="0"/>
              <a:t>Yazdığımız Python kodunu çalıştırır.</a:t>
            </a:r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3500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6D81CD-DCC6-80FD-EC3A-9CEA4F45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student/week01_setup_check.py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5247BC-E0F6-9998-468E-3A3CFF70C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sys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("Python:", </a:t>
            </a:r>
            <a:r>
              <a:rPr lang="tr-TR" dirty="0" err="1"/>
              <a:t>sys.version</a:t>
            </a:r>
            <a:r>
              <a:rPr lang="tr-TR" dirty="0"/>
              <a:t>)</a:t>
            </a:r>
          </a:p>
          <a:p>
            <a:pPr marL="0" indent="0">
              <a:buNone/>
            </a:pPr>
            <a:r>
              <a:rPr lang="tr-TR" dirty="0" err="1"/>
              <a:t>print</a:t>
            </a:r>
            <a:r>
              <a:rPr lang="tr-TR" dirty="0"/>
              <a:t>("Kurulum hazır.")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Run:</a:t>
            </a:r>
          </a:p>
          <a:p>
            <a:pPr marL="0" indent="0">
              <a:buNone/>
            </a:pPr>
            <a:r>
              <a:rPr lang="en-US" dirty="0"/>
              <a:t>python week01_setup_check.py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8154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88F60B2-655D-BDDB-4987-50E264771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sys</a:t>
            </a:r>
            <a:r>
              <a:rPr lang="tr-TR" dirty="0"/>
              <a:t> Ne Yapıyor?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F1B4157-CB60-8E07-303D-9DE1C7048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Python birçok hazır modülle birlikte gelir.</a:t>
            </a:r>
          </a:p>
          <a:p>
            <a:pPr marL="0" indent="0">
              <a:buNone/>
            </a:pPr>
            <a:r>
              <a:rPr lang="tr-TR" dirty="0" err="1"/>
              <a:t>import</a:t>
            </a:r>
            <a:r>
              <a:rPr lang="tr-TR" dirty="0"/>
              <a:t> </a:t>
            </a:r>
            <a:r>
              <a:rPr lang="tr-TR" dirty="0" err="1"/>
              <a:t>sys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ile </a:t>
            </a:r>
            <a:r>
              <a:rPr lang="tr-TR" dirty="0" err="1"/>
              <a:t>Python'ın</a:t>
            </a:r>
            <a:r>
              <a:rPr lang="tr-TR" dirty="0"/>
              <a:t> kendi çalışma ortamıyla ilgili bilgilere erişiyoruz.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sys.version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çalışan Python sürümünü verir.</a:t>
            </a:r>
          </a:p>
        </p:txBody>
      </p:sp>
    </p:spTree>
    <p:extLst>
      <p:ext uri="{BB962C8B-B14F-4D97-AF65-F5344CB8AC3E}">
        <p14:creationId xmlns:p14="http://schemas.microsoft.com/office/powerpoint/2010/main" val="370408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C8EBBF-BA02-A756-3E3A-619EB33F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Her Projede Aynı Paketler mi Olacak?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E59C163-60B0-B4F0-A6A4-880965B7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Cevaplar ?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Eğer bütün paketleri bilgisayara ortak şekilde yüklersek:</a:t>
            </a:r>
          </a:p>
          <a:p>
            <a:r>
              <a:rPr lang="tr-TR" dirty="0"/>
              <a:t>Bağımlılık çatışmaları oluşur. Bunu önlemek için </a:t>
            </a:r>
            <a:r>
              <a:rPr lang="tr-TR" dirty="0" err="1"/>
              <a:t>venv</a:t>
            </a:r>
            <a:r>
              <a:rPr lang="tr-TR" dirty="0"/>
              <a:t> kullanırız.</a:t>
            </a:r>
          </a:p>
        </p:txBody>
      </p:sp>
    </p:spTree>
    <p:extLst>
      <p:ext uri="{BB962C8B-B14F-4D97-AF65-F5344CB8AC3E}">
        <p14:creationId xmlns:p14="http://schemas.microsoft.com/office/powerpoint/2010/main" val="670412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28F00F3-EA40-4934-4204-D9F04F01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 Environment — </a:t>
            </a:r>
            <a:r>
              <a:rPr lang="tr-TR" dirty="0" err="1"/>
              <a:t>venv</a:t>
            </a:r>
            <a:endParaRPr lang="tr-T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51C51E8-4224-2E6B-AE38-11EB0E5BEE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20131"/>
            <a:ext cx="9694333" cy="476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Sanal ortam, projeye özel bir Python çalışma alanıdır.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tr-TR" altLang="tr-TR" sz="1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Bilgisayar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│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├── Proje 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│    └── </a:t>
            </a:r>
            <a:r>
              <a:rPr kumimoji="0" lang="tr-TR" altLang="tr-T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venv</a:t>
            </a:r>
            <a:endParaRPr kumimoji="0" lang="tr-TR" altLang="tr-T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│         ├── Paket 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│         └── Paket B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│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└── Proje B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└── </a:t>
            </a:r>
            <a:r>
              <a:rPr kumimoji="0" lang="tr-TR" altLang="tr-TR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venv</a:t>
            </a:r>
            <a:endParaRPr kumimoji="0" lang="tr-TR" altLang="tr-T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├── Paket C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└── Paket 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15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tr-TR" altLang="tr-T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r>
              <a:rPr lang="tr-TR" sz="1600" b="1" dirty="0"/>
              <a:t>Avantajı</a:t>
            </a:r>
          </a:p>
          <a:p>
            <a:pPr marL="0" indent="0">
              <a:buNone/>
            </a:pPr>
            <a:r>
              <a:rPr lang="tr-TR" sz="1600" dirty="0"/>
              <a:t>Bir projenin bağımlılıkları diğer projeyi etkilemez.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tr-TR" altLang="tr-TR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265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AE24E9-3BAD-E1BA-31D6-7B1AA07F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venv</a:t>
            </a:r>
            <a:r>
              <a:rPr lang="tr-TR" dirty="0"/>
              <a:t> Oluşturma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9AB919-FBD3-D663-E188-F732E59AE2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08607"/>
            <a:ext cx="9084733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 klasöründe: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-m 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venv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venv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venv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\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Scripts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\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activate</a:t>
            </a: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tr-TR" altLang="tr-TR" sz="25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(.</a:t>
            </a:r>
            <a:r>
              <a:rPr kumimoji="0" lang="tr-TR" altLang="tr-TR" sz="2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venv</a:t>
            </a: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göründüğünde aktif olur.</a:t>
            </a:r>
          </a:p>
        </p:txBody>
      </p:sp>
    </p:spTree>
    <p:extLst>
      <p:ext uri="{BB962C8B-B14F-4D97-AF65-F5344CB8AC3E}">
        <p14:creationId xmlns:p14="http://schemas.microsoft.com/office/powerpoint/2010/main" val="3189880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59CB56-8ACA-9F60-CFBB-2E15E3950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requirements.txt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B48021-8063-2D1C-A643-A05646AB8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/>
              <a:t>Bir yazılımın hangi Python paketlerine ihtiyaç duyduğunu gösterebiliriz</a:t>
            </a:r>
          </a:p>
          <a:p>
            <a:endParaRPr lang="tr-TR" dirty="0"/>
          </a:p>
          <a:p>
            <a:r>
              <a:rPr lang="tr-TR" dirty="0"/>
              <a:t>Dosya içeriği : </a:t>
            </a:r>
          </a:p>
          <a:p>
            <a:pPr marL="0" indent="0">
              <a:buNone/>
            </a:pPr>
            <a:r>
              <a:rPr lang="tr-TR" dirty="0" err="1"/>
              <a:t>pandas</a:t>
            </a:r>
            <a:r>
              <a:rPr lang="tr-TR" dirty="0"/>
              <a:t>&gt;=2.0</a:t>
            </a:r>
          </a:p>
          <a:p>
            <a:pPr marL="0" indent="0">
              <a:buNone/>
            </a:pPr>
            <a:r>
              <a:rPr lang="tr-TR" dirty="0" err="1"/>
              <a:t>scikit-learn</a:t>
            </a:r>
            <a:r>
              <a:rPr lang="tr-TR" dirty="0"/>
              <a:t>&gt;=1.3 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şeklinde iken aşağıdaki komut ile yükleme çalıştırılır: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pip install -r requirements.txt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62354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A02C5E-F921-5C69-0B61-F1B1DA14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928E29-E5DC-1C8A-073F-3F142999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b="1" dirty="0"/>
              <a:t>Dağıtık bir sürüm kontrol sistemidir.</a:t>
            </a:r>
          </a:p>
          <a:p>
            <a:pPr marL="0" indent="0">
              <a:buNone/>
            </a:pPr>
            <a:r>
              <a:rPr lang="tr-TR" dirty="0"/>
              <a:t>Kodumuzdaki değişikliklerin geçmişini takip eder.</a:t>
            </a:r>
          </a:p>
          <a:p>
            <a:pPr marL="0" indent="0" algn="ctr">
              <a:buNone/>
            </a:pPr>
            <a:r>
              <a:rPr lang="tr-TR" dirty="0"/>
              <a:t>Kod</a:t>
            </a:r>
          </a:p>
          <a:p>
            <a:pPr marL="0" indent="0" algn="ctr">
              <a:buNone/>
            </a:pPr>
            <a:r>
              <a:rPr lang="tr-TR" dirty="0"/>
              <a:t> ↓</a:t>
            </a:r>
          </a:p>
          <a:p>
            <a:pPr marL="0" indent="0" algn="ctr">
              <a:buNone/>
            </a:pPr>
            <a:r>
              <a:rPr lang="tr-TR" dirty="0"/>
              <a:t>Değişiklik</a:t>
            </a:r>
          </a:p>
          <a:p>
            <a:pPr marL="0" indent="0" algn="ctr">
              <a:buNone/>
            </a:pPr>
            <a:r>
              <a:rPr lang="tr-TR" dirty="0"/>
              <a:t> ↓</a:t>
            </a:r>
          </a:p>
          <a:p>
            <a:pPr marL="0" indent="0" algn="ctr">
              <a:buNone/>
            </a:pPr>
            <a:r>
              <a:rPr lang="tr-TR" dirty="0" err="1"/>
              <a:t>Commit</a:t>
            </a:r>
            <a:endParaRPr lang="tr-TR" dirty="0"/>
          </a:p>
          <a:p>
            <a:pPr marL="0" indent="0" algn="ctr">
              <a:buNone/>
            </a:pPr>
            <a:r>
              <a:rPr lang="tr-TR" dirty="0"/>
              <a:t> ↓</a:t>
            </a:r>
          </a:p>
          <a:p>
            <a:pPr marL="0" indent="0" algn="ctr">
              <a:buNone/>
            </a:pPr>
            <a:r>
              <a:rPr lang="tr-TR" dirty="0"/>
              <a:t>Yeni Değişiklik</a:t>
            </a:r>
          </a:p>
          <a:p>
            <a:pPr marL="0" indent="0" algn="ctr">
              <a:buNone/>
            </a:pPr>
            <a:r>
              <a:rPr lang="tr-TR" dirty="0"/>
              <a:t> ↓</a:t>
            </a:r>
          </a:p>
          <a:p>
            <a:pPr marL="0" indent="0" algn="ctr">
              <a:buNone/>
            </a:pPr>
            <a:r>
              <a:rPr lang="tr-TR" dirty="0" err="1"/>
              <a:t>Commit</a:t>
            </a:r>
            <a:endParaRPr lang="tr-TR" dirty="0"/>
          </a:p>
          <a:p>
            <a:pPr marL="0" indent="0" algn="ctr">
              <a:buNone/>
            </a:pPr>
            <a:r>
              <a:rPr lang="tr-TR" dirty="0"/>
              <a:t> ↓</a:t>
            </a:r>
          </a:p>
          <a:p>
            <a:pPr marL="0" indent="0" algn="ctr">
              <a:buNone/>
            </a:pPr>
            <a:r>
              <a:rPr lang="tr-TR" dirty="0"/>
              <a:t>Proje Geçmişi</a:t>
            </a:r>
          </a:p>
        </p:txBody>
      </p:sp>
    </p:spTree>
    <p:extLst>
      <p:ext uri="{BB962C8B-B14F-4D97-AF65-F5344CB8AC3E}">
        <p14:creationId xmlns:p14="http://schemas.microsoft.com/office/powerpoint/2010/main" val="237088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714A49C-8594-17BF-BDDE-E6B2A1F4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Git Kavramları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C04615B-1277-7CFE-299D-76123CECB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b="1" dirty="0" err="1"/>
              <a:t>Repository</a:t>
            </a:r>
            <a:r>
              <a:rPr lang="tr-TR" b="1" dirty="0"/>
              <a:t> — Repo</a:t>
            </a:r>
          </a:p>
          <a:p>
            <a:r>
              <a:rPr lang="tr-TR" dirty="0"/>
              <a:t>Projenin Git tarafından takip edilen alanı.</a:t>
            </a:r>
          </a:p>
          <a:p>
            <a:pPr marL="0" indent="0">
              <a:buNone/>
            </a:pPr>
            <a:r>
              <a:rPr lang="tr-TR" b="1" dirty="0" err="1"/>
              <a:t>Commit</a:t>
            </a:r>
            <a:endParaRPr lang="tr-TR" b="1" dirty="0"/>
          </a:p>
          <a:p>
            <a:r>
              <a:rPr lang="tr-TR" dirty="0"/>
              <a:t>Projenin belirli bir andaki anlamlı değişiklik kaydı.</a:t>
            </a:r>
          </a:p>
          <a:p>
            <a:pPr marL="0" indent="0">
              <a:buNone/>
            </a:pPr>
            <a:r>
              <a:rPr lang="tr-TR" b="1" dirty="0" err="1"/>
              <a:t>Branch</a:t>
            </a:r>
            <a:endParaRPr lang="tr-TR" b="1" dirty="0"/>
          </a:p>
          <a:p>
            <a:r>
              <a:rPr lang="tr-TR" dirty="0"/>
              <a:t>Ana koddan bağımsız çalışma hattı.</a:t>
            </a:r>
          </a:p>
          <a:p>
            <a:pPr marL="0" indent="0">
              <a:buNone/>
            </a:pPr>
            <a:r>
              <a:rPr lang="tr-TR" b="1" dirty="0" err="1"/>
              <a:t>Merge</a:t>
            </a:r>
            <a:endParaRPr lang="tr-TR" b="1" dirty="0"/>
          </a:p>
          <a:p>
            <a:r>
              <a:rPr lang="tr-TR" dirty="0"/>
              <a:t>Farklı geliştirme hatlarının birleştirilmesi.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936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6E6AC3-C8D6-ABDC-EFE8-7D496C16A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Repository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13F15A-9BBA-28C9-1D99-E729A9FF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64642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Proje klasöründe:</a:t>
            </a:r>
          </a:p>
          <a:p>
            <a:pPr marL="0" indent="0">
              <a:buNone/>
            </a:pPr>
            <a:r>
              <a:rPr lang="tr-TR" b="1" dirty="0"/>
              <a:t>git </a:t>
            </a:r>
            <a:r>
              <a:rPr lang="tr-TR" b="1" dirty="0" err="1"/>
              <a:t>init</a:t>
            </a:r>
            <a:endParaRPr lang="tr-TR" b="1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kontrol etmek için:</a:t>
            </a:r>
          </a:p>
          <a:p>
            <a:pPr marL="0" indent="0">
              <a:buNone/>
            </a:pPr>
            <a:r>
              <a:rPr lang="tr-TR" b="1" dirty="0"/>
              <a:t>git </a:t>
            </a:r>
            <a:r>
              <a:rPr lang="tr-TR" b="1" dirty="0" err="1"/>
              <a:t>status</a:t>
            </a:r>
            <a:endParaRPr lang="tr-TR" b="1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Dosya eklemek için:</a:t>
            </a:r>
          </a:p>
          <a:p>
            <a:pPr marL="0" indent="0">
              <a:buNone/>
            </a:pPr>
            <a:r>
              <a:rPr lang="tr-TR" b="1" dirty="0"/>
              <a:t>git </a:t>
            </a:r>
            <a:r>
              <a:rPr lang="tr-TR" b="1" dirty="0" err="1"/>
              <a:t>add</a:t>
            </a:r>
            <a:r>
              <a:rPr lang="tr-TR" b="1" dirty="0"/>
              <a:t> .</a:t>
            </a:r>
          </a:p>
          <a:p>
            <a:pPr marL="0" indent="0">
              <a:buNone/>
            </a:pPr>
            <a:endParaRPr lang="tr-TR" b="1" dirty="0"/>
          </a:p>
          <a:p>
            <a:pPr marL="0" indent="0">
              <a:buNone/>
            </a:pPr>
            <a:r>
              <a:rPr lang="tr-TR" dirty="0"/>
              <a:t>İlk </a:t>
            </a:r>
            <a:r>
              <a:rPr lang="tr-TR" dirty="0" err="1"/>
              <a:t>commit</a:t>
            </a:r>
            <a:r>
              <a:rPr lang="tr-TR" dirty="0"/>
              <a:t>:</a:t>
            </a:r>
          </a:p>
          <a:p>
            <a:pPr marL="0" indent="0">
              <a:buNone/>
            </a:pPr>
            <a:r>
              <a:rPr lang="en-US" b="1" dirty="0"/>
              <a:t>git commit -m "Initial project setup"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30254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93B07CB-94C5-37F5-5C4D-46FC6B15A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Commit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0F50D9-2362-4314-FC34-B7511D96E6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548044"/>
            <a:ext cx="9762067" cy="2906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 incelemek kolaylaşır.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Hata bulmak kolaylaşır.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Geri dönüş kolaylaşır.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 geçmişi anlaşılır olur. </a:t>
            </a:r>
          </a:p>
        </p:txBody>
      </p:sp>
    </p:spTree>
    <p:extLst>
      <p:ext uri="{BB962C8B-B14F-4D97-AF65-F5344CB8AC3E}">
        <p14:creationId xmlns:p14="http://schemas.microsoft.com/office/powerpoint/2010/main" val="567256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657245A-36D3-FA97-F547-92CFAB69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README Nedir?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3945EE5-1372-6694-0EE0-23CE452FC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/>
              <a:t>“Bu yazılım nedir ve nasıl kullanılır?”</a:t>
            </a:r>
          </a:p>
          <a:p>
            <a:pPr marL="0" indent="0">
              <a:buNone/>
            </a:pPr>
            <a:r>
              <a:rPr lang="tr-TR" dirty="0"/>
              <a:t>sorusuna verdiği cevaptır.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46600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A2C20A-ADD7-8AFB-0F95-79F03B65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İyi Bir README Ne Anlatmalı?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05D564-6D41-242A-24B3-CE5240F87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67"/>
            <a:ext cx="10515600" cy="5537200"/>
          </a:xfrm>
        </p:spPr>
        <p:txBody>
          <a:bodyPr>
            <a:normAutofit fontScale="92500" lnSpcReduction="10000"/>
          </a:bodyPr>
          <a:lstStyle/>
          <a:p>
            <a:r>
              <a:rPr lang="tr-TR" b="1" dirty="0"/>
              <a:t>1. Projenin amacı</a:t>
            </a:r>
          </a:p>
          <a:p>
            <a:r>
              <a:rPr lang="tr-TR" dirty="0"/>
              <a:t>Bu yazılım ne yapıyor?</a:t>
            </a:r>
          </a:p>
          <a:p>
            <a:r>
              <a:rPr lang="tr-TR" b="1" dirty="0"/>
              <a:t>2. Gereksinimler</a:t>
            </a:r>
          </a:p>
          <a:p>
            <a:r>
              <a:rPr lang="tr-TR" dirty="0"/>
              <a:t>Hangi Python sürümü / paketler gerekli?</a:t>
            </a:r>
          </a:p>
          <a:p>
            <a:r>
              <a:rPr lang="tr-TR" b="1" dirty="0"/>
              <a:t>3. Kurulum</a:t>
            </a:r>
          </a:p>
          <a:p>
            <a:r>
              <a:rPr lang="tr-TR" dirty="0"/>
              <a:t>Nasıl hazırlanacak?</a:t>
            </a:r>
          </a:p>
          <a:p>
            <a:r>
              <a:rPr lang="tr-TR" b="1" dirty="0"/>
              <a:t>4. Çalıştırma</a:t>
            </a:r>
          </a:p>
          <a:p>
            <a:r>
              <a:rPr lang="tr-TR" dirty="0"/>
              <a:t>Hangi komut kullanılacak?</a:t>
            </a:r>
          </a:p>
          <a:p>
            <a:r>
              <a:rPr lang="tr-TR" b="1" dirty="0"/>
              <a:t>5. Örnek çıktı</a:t>
            </a:r>
          </a:p>
          <a:p>
            <a:r>
              <a:rPr lang="tr-TR" dirty="0"/>
              <a:t>Çalışınca ne görmeliyim?</a:t>
            </a:r>
          </a:p>
          <a:p>
            <a:r>
              <a:rPr lang="tr-TR" b="1" dirty="0"/>
              <a:t>6. Sınırlılıklar</a:t>
            </a:r>
          </a:p>
          <a:p>
            <a:r>
              <a:rPr lang="tr-TR" dirty="0"/>
              <a:t>Bilinen kısıtlar var mı?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0546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7EEC4D-4C28-1B65-2B7A-C0314040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Örnek README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94BBA9-F246-EC9C-BF1F-6E1F34ECB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933"/>
            <a:ext cx="105156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1800" b="1" dirty="0"/>
              <a:t># </a:t>
            </a:r>
            <a:r>
              <a:rPr lang="tr-TR" sz="1800" b="1" dirty="0" err="1"/>
              <a:t>Week</a:t>
            </a:r>
            <a:r>
              <a:rPr lang="tr-TR" sz="1800" b="1" dirty="0"/>
              <a:t> 01 - Setup </a:t>
            </a:r>
            <a:r>
              <a:rPr lang="tr-TR" sz="1800" b="1" dirty="0" err="1"/>
              <a:t>Check</a:t>
            </a:r>
            <a:endParaRPr lang="tr-TR" sz="1800" b="1" dirty="0"/>
          </a:p>
          <a:p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## Amaç</a:t>
            </a:r>
          </a:p>
          <a:p>
            <a:pPr marL="0" indent="0">
              <a:buNone/>
            </a:pPr>
            <a:r>
              <a:rPr lang="tr-TR" sz="1800" dirty="0"/>
              <a:t>Python geliştirme ortamının hazır olduğunu kontrol eder.</a:t>
            </a:r>
          </a:p>
          <a:p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## Gereksinimler</a:t>
            </a:r>
          </a:p>
          <a:p>
            <a:pPr marL="0" indent="0">
              <a:buNone/>
            </a:pPr>
            <a:r>
              <a:rPr lang="tr-TR" sz="1800" dirty="0"/>
              <a:t>Python 3.11+</a:t>
            </a:r>
          </a:p>
          <a:p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## Çalıştırma</a:t>
            </a:r>
          </a:p>
          <a:p>
            <a:pPr marL="0" indent="0">
              <a:buNone/>
            </a:pPr>
            <a:r>
              <a:rPr lang="tr-TR" sz="1800" dirty="0" err="1"/>
              <a:t>python</a:t>
            </a:r>
            <a:r>
              <a:rPr lang="tr-TR" sz="1800" dirty="0"/>
              <a:t> week01_setup_check.py</a:t>
            </a:r>
          </a:p>
          <a:p>
            <a:endParaRPr lang="tr-TR" sz="1800" dirty="0"/>
          </a:p>
          <a:p>
            <a:pPr marL="0" indent="0">
              <a:buNone/>
            </a:pPr>
            <a:r>
              <a:rPr lang="tr-TR" sz="1800" b="1" dirty="0"/>
              <a:t>## Örnek Çıktı</a:t>
            </a:r>
          </a:p>
          <a:p>
            <a:pPr marL="0" indent="0">
              <a:buNone/>
            </a:pPr>
            <a:r>
              <a:rPr lang="tr-TR" sz="1800" dirty="0"/>
              <a:t>Python: 3.11.9</a:t>
            </a:r>
          </a:p>
          <a:p>
            <a:pPr marL="0" indent="0">
              <a:buNone/>
            </a:pPr>
            <a:r>
              <a:rPr lang="tr-TR" sz="1800" dirty="0"/>
              <a:t>Kurulum hazır.</a:t>
            </a:r>
          </a:p>
        </p:txBody>
      </p:sp>
    </p:spTree>
    <p:extLst>
      <p:ext uri="{BB962C8B-B14F-4D97-AF65-F5344CB8AC3E}">
        <p14:creationId xmlns:p14="http://schemas.microsoft.com/office/powerpoint/2010/main" val="2268193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3AC4DD7-2E03-B9AF-2AD6-7348F019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14ED2E-CEF8-C50A-07B1-F7D7C845D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>
            <a:normAutofit lnSpcReduction="10000"/>
          </a:bodyPr>
          <a:lstStyle/>
          <a:p>
            <a:r>
              <a:rPr lang="tr-TR" dirty="0"/>
              <a:t>Python ✓      				Python sürümünü kontrol</a:t>
            </a:r>
          </a:p>
          <a:p>
            <a:r>
              <a:rPr lang="tr-TR" dirty="0" err="1"/>
              <a:t>venv</a:t>
            </a:r>
            <a:r>
              <a:rPr lang="tr-TR" dirty="0"/>
              <a:t> ✓					Proje klasörü oluştur</a:t>
            </a:r>
          </a:p>
          <a:p>
            <a:r>
              <a:rPr lang="tr-TR" dirty="0"/>
              <a:t>Git </a:t>
            </a:r>
            <a:r>
              <a:rPr lang="tr-TR" dirty="0" err="1"/>
              <a:t>repository</a:t>
            </a:r>
            <a:r>
              <a:rPr lang="tr-TR" dirty="0"/>
              <a:t> ✓				</a:t>
            </a:r>
            <a:r>
              <a:rPr lang="tr-TR" dirty="0" err="1"/>
              <a:t>venv</a:t>
            </a:r>
            <a:r>
              <a:rPr lang="tr-TR" dirty="0"/>
              <a:t> oluştur</a:t>
            </a:r>
          </a:p>
          <a:p>
            <a:r>
              <a:rPr lang="tr-TR" dirty="0"/>
              <a:t>README ✓				Git repo oluştur</a:t>
            </a:r>
          </a:p>
          <a:p>
            <a:r>
              <a:rPr lang="tr-TR" dirty="0"/>
              <a:t>İlk çalışan Python kodu ✓		</a:t>
            </a:r>
            <a:r>
              <a:rPr lang="tr-TR" dirty="0" err="1"/>
              <a:t>readme</a:t>
            </a:r>
            <a:r>
              <a:rPr lang="tr-TR" dirty="0"/>
              <a:t> oluştur</a:t>
            </a:r>
          </a:p>
          <a:p>
            <a:r>
              <a:rPr lang="tr-TR" dirty="0"/>
              <a:t>İlk </a:t>
            </a:r>
            <a:r>
              <a:rPr lang="tr-TR" dirty="0" err="1"/>
              <a:t>commit</a:t>
            </a:r>
            <a:r>
              <a:rPr lang="tr-TR" dirty="0"/>
              <a:t> ✓				week01_setup_check.py adıyla kaydet</a:t>
            </a:r>
          </a:p>
          <a:p>
            <a:pPr marL="3657600" lvl="8" indent="0">
              <a:buNone/>
            </a:pPr>
            <a:r>
              <a:rPr lang="tr-TR" sz="2800" dirty="0"/>
              <a:t>		İlk </a:t>
            </a:r>
            <a:r>
              <a:rPr lang="tr-TR" sz="2800" dirty="0" err="1"/>
              <a:t>commit</a:t>
            </a:r>
            <a:r>
              <a:rPr lang="tr-TR" sz="2800" dirty="0"/>
              <a:t> yap</a:t>
            </a:r>
          </a:p>
          <a:p>
            <a:pPr marL="3657600" lvl="8" indent="0">
              <a:buNone/>
            </a:pPr>
            <a:endParaRPr lang="tr-TR" sz="2800" dirty="0"/>
          </a:p>
          <a:p>
            <a:pPr marL="3657600" lvl="8" indent="0">
              <a:buNone/>
            </a:pPr>
            <a:r>
              <a:rPr lang="tr-TR" sz="2800" b="1" dirty="0"/>
              <a:t>git log </a:t>
            </a:r>
            <a:r>
              <a:rPr lang="tr-TR" sz="2800" dirty="0"/>
              <a:t>ile en az bir </a:t>
            </a:r>
            <a:r>
              <a:rPr lang="tr-TR" sz="2800" dirty="0" err="1"/>
              <a:t>commit</a:t>
            </a:r>
            <a:r>
              <a:rPr lang="tr-TR" sz="2800" dirty="0"/>
              <a:t> görüntülenmelidir.</a:t>
            </a:r>
          </a:p>
        </p:txBody>
      </p:sp>
    </p:spTree>
    <p:extLst>
      <p:ext uri="{BB962C8B-B14F-4D97-AF65-F5344CB8AC3E}">
        <p14:creationId xmlns:p14="http://schemas.microsoft.com/office/powerpoint/2010/main" val="2016462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7C5DCC-FE94-7F5B-E3B2-05B3B7A43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Kurulumu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3AE73DB-867B-CDDC-7ED5-54C00644E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300" b="1" dirty="0"/>
              <a:t>Git:</a:t>
            </a:r>
            <a:r>
              <a:rPr lang="tr-TR" sz="3300" dirty="0"/>
              <a:t> Bilgisayarımızda çalışan versiyon kontrol sistemidir.</a:t>
            </a:r>
          </a:p>
          <a:p>
            <a:r>
              <a:rPr lang="tr-TR" sz="3300" b="1" dirty="0" err="1"/>
              <a:t>GitHub</a:t>
            </a:r>
            <a:r>
              <a:rPr lang="tr-TR" sz="3300" b="1" dirty="0"/>
              <a:t>:</a:t>
            </a:r>
            <a:r>
              <a:rPr lang="tr-TR" sz="3300" dirty="0"/>
              <a:t> Git </a:t>
            </a:r>
            <a:r>
              <a:rPr lang="tr-TR" sz="3300" dirty="0" err="1"/>
              <a:t>repository'lerini</a:t>
            </a:r>
            <a:r>
              <a:rPr lang="tr-TR" sz="3300" dirty="0"/>
              <a:t> internet üzerinde saklayabildiğimiz platformdur.</a:t>
            </a:r>
          </a:p>
          <a:p>
            <a:endParaRPr lang="tr-TR" sz="3300" dirty="0"/>
          </a:p>
          <a:p>
            <a:endParaRPr lang="tr-TR" sz="3300" dirty="0"/>
          </a:p>
          <a:p>
            <a:r>
              <a:rPr lang="tr-TR" sz="3300" dirty="0"/>
              <a:t>Git bilgisayara kurulacaktır.</a:t>
            </a:r>
          </a:p>
          <a:p>
            <a:r>
              <a:rPr lang="tr-TR" sz="3300" dirty="0" err="1"/>
              <a:t>GitHub</a:t>
            </a:r>
            <a:r>
              <a:rPr lang="tr-TR" sz="3300" dirty="0"/>
              <a:t> için ise web sitesi üzerinden hesap oluşturulacaktır.</a:t>
            </a:r>
          </a:p>
          <a:p>
            <a:endParaRPr lang="tr-TR" sz="3000" dirty="0"/>
          </a:p>
        </p:txBody>
      </p:sp>
    </p:spTree>
    <p:extLst>
      <p:ext uri="{BB962C8B-B14F-4D97-AF65-F5344CB8AC3E}">
        <p14:creationId xmlns:p14="http://schemas.microsoft.com/office/powerpoint/2010/main" val="3145505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902115-0D78-73F9-C2FD-095893CB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kurulumu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63602A-7DA6-46DF-AC60-8BC7C9AD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>
                <a:hlinkClick r:id="rId2"/>
              </a:rPr>
              <a:t>https://git-scm.com/downloads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Kurulum tamamlandıktan sonra:</a:t>
            </a:r>
          </a:p>
          <a:p>
            <a:pPr marL="0" indent="0">
              <a:buNone/>
            </a:pPr>
            <a:r>
              <a:rPr lang="tr-TR" dirty="0"/>
              <a:t>Başlat menüsünden:</a:t>
            </a:r>
          </a:p>
          <a:p>
            <a:pPr marL="0" indent="0">
              <a:buNone/>
            </a:pPr>
            <a:r>
              <a:rPr lang="tr-TR" dirty="0"/>
              <a:t>Git </a:t>
            </a:r>
            <a:r>
              <a:rPr lang="tr-TR" dirty="0" err="1"/>
              <a:t>Bash</a:t>
            </a:r>
            <a:r>
              <a:rPr lang="tr-TR" dirty="0"/>
              <a:t> uygulamasını açınız.</a:t>
            </a:r>
          </a:p>
          <a:p>
            <a:pPr marL="0" indent="0">
              <a:buNone/>
            </a:pPr>
            <a:r>
              <a:rPr lang="tr-TR" dirty="0"/>
              <a:t>Aşağıdaki komutu yazınız:</a:t>
            </a:r>
          </a:p>
          <a:p>
            <a:r>
              <a:rPr lang="tr-TR" dirty="0"/>
              <a:t>git –</a:t>
            </a:r>
            <a:r>
              <a:rPr lang="tr-TR" dirty="0" err="1"/>
              <a:t>version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Örneğin aşağıdakine benzer bir çıktı görüyorsanız Git kurulmuştur:</a:t>
            </a:r>
          </a:p>
          <a:p>
            <a:pPr marL="0" indent="0">
              <a:buNone/>
            </a:pPr>
            <a:r>
              <a:rPr lang="fr-FR" dirty="0"/>
              <a:t>git version 2.x.x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987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0D4532-D615-DBC0-8B38-CC082A06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kullanıcı bilgilerinin tanımlanması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EEA146-1217-9CE9-3B9E-A86E01E98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268"/>
            <a:ext cx="10515600" cy="5528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dirty="0"/>
              <a:t>Git </a:t>
            </a:r>
            <a:r>
              <a:rPr lang="tr-TR" dirty="0" err="1"/>
              <a:t>Bash</a:t>
            </a:r>
            <a:r>
              <a:rPr lang="tr-TR" dirty="0"/>
              <a:t> üzerinde adımızı tanımlayalım.</a:t>
            </a:r>
          </a:p>
          <a:p>
            <a:r>
              <a:rPr lang="en-US" dirty="0"/>
              <a:t>git config --global user.name </a:t>
            </a:r>
            <a:r>
              <a:rPr lang="tr-TR" dirty="0"/>
              <a:t>"Ad </a:t>
            </a:r>
            <a:r>
              <a:rPr lang="tr-TR" dirty="0" err="1"/>
              <a:t>Soyad</a:t>
            </a:r>
            <a:r>
              <a:rPr lang="tr-TR" dirty="0"/>
              <a:t>"</a:t>
            </a:r>
          </a:p>
          <a:p>
            <a:pPr marL="0" indent="0">
              <a:buNone/>
            </a:pPr>
            <a:r>
              <a:rPr lang="tr-TR" dirty="0"/>
              <a:t>Örnek:</a:t>
            </a:r>
          </a:p>
          <a:p>
            <a:r>
              <a:rPr lang="tr-TR" dirty="0"/>
              <a:t>git </a:t>
            </a:r>
            <a:r>
              <a:rPr lang="tr-TR" dirty="0" err="1"/>
              <a:t>config</a:t>
            </a:r>
            <a:r>
              <a:rPr lang="tr-TR" dirty="0"/>
              <a:t> --global user.name "Ahmet </a:t>
            </a:r>
            <a:r>
              <a:rPr lang="tr-TR" dirty="0" err="1"/>
              <a:t>Yilmaz</a:t>
            </a:r>
            <a:r>
              <a:rPr lang="tr-TR" dirty="0"/>
              <a:t> "</a:t>
            </a:r>
          </a:p>
          <a:p>
            <a:pPr marL="0" indent="0">
              <a:buNone/>
            </a:pPr>
            <a:r>
              <a:rPr lang="tr-TR" dirty="0"/>
              <a:t>Ardından e-posta adresimizi tanımlayalım:</a:t>
            </a:r>
          </a:p>
          <a:p>
            <a:r>
              <a:rPr lang="tr-TR" dirty="0"/>
              <a:t>git </a:t>
            </a:r>
            <a:r>
              <a:rPr lang="tr-TR" dirty="0" err="1"/>
              <a:t>config</a:t>
            </a:r>
            <a:r>
              <a:rPr lang="tr-TR" dirty="0"/>
              <a:t> --global </a:t>
            </a:r>
            <a:r>
              <a:rPr lang="tr-TR" dirty="0" err="1"/>
              <a:t>user.email</a:t>
            </a:r>
            <a:r>
              <a:rPr lang="tr-TR" dirty="0"/>
              <a:t> </a:t>
            </a:r>
            <a:r>
              <a:rPr lang="tr-TR" dirty="0">
                <a:hlinkClick r:id="rId2"/>
              </a:rPr>
              <a:t>mail@example.com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Tanımlanan bilgileri görmek için:</a:t>
            </a:r>
          </a:p>
          <a:p>
            <a:r>
              <a:rPr lang="tr-TR" dirty="0"/>
              <a:t>git </a:t>
            </a:r>
            <a:r>
              <a:rPr lang="tr-TR" dirty="0" err="1"/>
              <a:t>config</a:t>
            </a:r>
            <a:r>
              <a:rPr lang="tr-TR" dirty="0"/>
              <a:t> --global –</a:t>
            </a:r>
            <a:r>
              <a:rPr lang="tr-TR" dirty="0" err="1"/>
              <a:t>list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Bu bilgiler oluşturacağımız </a:t>
            </a:r>
            <a:r>
              <a:rPr lang="tr-TR" dirty="0" err="1"/>
              <a:t>commitlerin</a:t>
            </a:r>
            <a:r>
              <a:rPr lang="tr-TR" dirty="0"/>
              <a:t> kime ait olduğunu göstermek için kullanılacaktır.</a:t>
            </a:r>
          </a:p>
        </p:txBody>
      </p:sp>
    </p:spTree>
    <p:extLst>
      <p:ext uri="{BB962C8B-B14F-4D97-AF65-F5344CB8AC3E}">
        <p14:creationId xmlns:p14="http://schemas.microsoft.com/office/powerpoint/2010/main" val="3467422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8B80E7-8746-04B9-9267-45CCB853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GitHub</a:t>
            </a:r>
            <a:r>
              <a:rPr lang="tr-TR" dirty="0"/>
              <a:t> hesabının oluşturulması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A53B43-11E1-86B6-850F-C775E5288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Tarayıcıdan:</a:t>
            </a:r>
          </a:p>
          <a:p>
            <a:r>
              <a:rPr lang="tr-TR" dirty="0">
                <a:hlinkClick r:id="rId2"/>
              </a:rPr>
              <a:t>https://github.com</a:t>
            </a:r>
            <a:r>
              <a:rPr lang="tr-TR" dirty="0"/>
              <a:t> adresine gidiniz.</a:t>
            </a:r>
          </a:p>
          <a:p>
            <a:r>
              <a:rPr lang="tr-TR" dirty="0"/>
              <a:t>Hesabınız yoksa </a:t>
            </a:r>
            <a:r>
              <a:rPr lang="tr-TR" b="1" dirty="0" err="1"/>
              <a:t>Sign</a:t>
            </a:r>
            <a:r>
              <a:rPr lang="tr-TR" b="1" dirty="0"/>
              <a:t> </a:t>
            </a:r>
            <a:r>
              <a:rPr lang="tr-TR" b="1" dirty="0" err="1"/>
              <a:t>up</a:t>
            </a:r>
            <a:r>
              <a:rPr lang="tr-TR" dirty="0"/>
              <a:t> seçeneğini kullanarak bir hesap oluşturunuz.</a:t>
            </a:r>
          </a:p>
          <a:p>
            <a:r>
              <a:rPr lang="tr-TR" dirty="0"/>
              <a:t>Hesabı olan öğrencilerin yeni hesap oluşturmasına gerek yoktur.</a:t>
            </a:r>
          </a:p>
          <a:p>
            <a:r>
              <a:rPr lang="tr-TR" dirty="0" err="1"/>
              <a:t>GitHub</a:t>
            </a:r>
            <a:r>
              <a:rPr lang="tr-TR" dirty="0"/>
              <a:t> bilgisayara ayrıca kurulmayacaktır.</a:t>
            </a:r>
          </a:p>
        </p:txBody>
      </p:sp>
    </p:spTree>
    <p:extLst>
      <p:ext uri="{BB962C8B-B14F-4D97-AF65-F5344CB8AC3E}">
        <p14:creationId xmlns:p14="http://schemas.microsoft.com/office/powerpoint/2010/main" val="13584328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16FFFB-4C32-8280-3098-A367BE28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Ders </a:t>
            </a:r>
            <a:r>
              <a:rPr lang="tr-TR" dirty="0" err="1"/>
              <a:t>repository'sinin</a:t>
            </a:r>
            <a:r>
              <a:rPr lang="tr-TR" dirty="0"/>
              <a:t> oluşturulması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DF585B-7C1C-FB21-2325-799C98DD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GitHub'a</a:t>
            </a:r>
            <a:r>
              <a:rPr lang="tr-TR" dirty="0"/>
              <a:t> giriş yaptıktan sonra sağ üst bölümden:</a:t>
            </a:r>
          </a:p>
          <a:p>
            <a:pPr marL="0" indent="0">
              <a:buNone/>
            </a:pPr>
            <a:r>
              <a:rPr lang="tr-TR" dirty="0"/>
              <a:t>+ → New </a:t>
            </a:r>
            <a:r>
              <a:rPr lang="tr-TR" dirty="0" err="1"/>
              <a:t>repository</a:t>
            </a:r>
            <a:r>
              <a:rPr lang="tr-TR" dirty="0"/>
              <a:t> seçeneğini seçiniz.</a:t>
            </a:r>
          </a:p>
          <a:p>
            <a:pPr marL="0" indent="0">
              <a:buNone/>
            </a:pPr>
            <a:r>
              <a:rPr lang="tr-TR" dirty="0" err="1"/>
              <a:t>Repository</a:t>
            </a:r>
            <a:r>
              <a:rPr lang="tr-TR" dirty="0"/>
              <a:t> adı ders kapsamında belirlenen standartta olacaktır.</a:t>
            </a:r>
          </a:p>
          <a:p>
            <a:pPr marL="0" indent="0">
              <a:buNone/>
            </a:pPr>
            <a:r>
              <a:rPr lang="tr-TR" dirty="0" err="1"/>
              <a:t>Repository</a:t>
            </a:r>
            <a:r>
              <a:rPr lang="tr-TR" dirty="0"/>
              <a:t> adı: </a:t>
            </a:r>
            <a:r>
              <a:rPr lang="tr-TR" dirty="0" err="1">
                <a:solidFill>
                  <a:srgbClr val="FF0000"/>
                </a:solidFill>
              </a:rPr>
              <a:t>SecSoftwareLabs-ÖğrenciNo</a:t>
            </a:r>
            <a:r>
              <a:rPr lang="tr-TR" dirty="0"/>
              <a:t> şeklinde olacaktır.</a:t>
            </a:r>
          </a:p>
          <a:p>
            <a:pPr marL="0" indent="0">
              <a:buNone/>
            </a:pPr>
            <a:r>
              <a:rPr lang="tr-TR" dirty="0" err="1"/>
              <a:t>Repository</a:t>
            </a:r>
            <a:r>
              <a:rPr lang="tr-TR" dirty="0"/>
              <a:t> adı konusunda herkes aynı standardı kullanmalıdır.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64756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F6F4A8-4125-8B0E-67DB-F611EB6F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Repository</a:t>
            </a:r>
            <a:r>
              <a:rPr lang="tr-TR" dirty="0"/>
              <a:t> ayarları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0C660B-A835-CBD5-781C-02CC78016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Visibility</a:t>
            </a:r>
            <a:r>
              <a:rPr lang="tr-TR" dirty="0"/>
              <a:t>: </a:t>
            </a:r>
            <a:r>
              <a:rPr lang="tr-TR" dirty="0" err="1"/>
              <a:t>Private</a:t>
            </a:r>
            <a:endParaRPr lang="tr-TR" dirty="0"/>
          </a:p>
          <a:p>
            <a:r>
              <a:rPr lang="tr-TR" dirty="0" err="1"/>
              <a:t>Add</a:t>
            </a:r>
            <a:r>
              <a:rPr lang="tr-TR" dirty="0"/>
              <a:t> a README file: işaretleyiniz</a:t>
            </a:r>
          </a:p>
          <a:p>
            <a:r>
              <a:rPr lang="tr-TR" dirty="0" err="1"/>
              <a:t>Create</a:t>
            </a:r>
            <a:r>
              <a:rPr lang="tr-TR" dirty="0"/>
              <a:t> </a:t>
            </a:r>
            <a:r>
              <a:rPr lang="tr-TR" dirty="0" err="1"/>
              <a:t>repository</a:t>
            </a:r>
            <a:r>
              <a:rPr lang="tr-TR" dirty="0"/>
              <a:t> butonuna basınız.</a:t>
            </a:r>
          </a:p>
          <a:p>
            <a:endParaRPr lang="tr-TR" dirty="0"/>
          </a:p>
          <a:p>
            <a:endParaRPr lang="tr-TR" dirty="0"/>
          </a:p>
          <a:p>
            <a:r>
              <a:rPr lang="tr-TR" dirty="0"/>
              <a:t>Her hafta yeni </a:t>
            </a:r>
            <a:r>
              <a:rPr lang="tr-TR" dirty="0" err="1"/>
              <a:t>repository</a:t>
            </a:r>
            <a:r>
              <a:rPr lang="tr-TR" dirty="0"/>
              <a:t> oluşturulmayacaktır. Dönem boyunca bu </a:t>
            </a:r>
            <a:r>
              <a:rPr lang="tr-TR" dirty="0" err="1"/>
              <a:t>repository</a:t>
            </a:r>
            <a:r>
              <a:rPr lang="tr-TR" dirty="0"/>
              <a:t> kullanılacaktır.</a:t>
            </a:r>
          </a:p>
        </p:txBody>
      </p:sp>
    </p:spTree>
    <p:extLst>
      <p:ext uri="{BB962C8B-B14F-4D97-AF65-F5344CB8AC3E}">
        <p14:creationId xmlns:p14="http://schemas.microsoft.com/office/powerpoint/2010/main" val="2105035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C204AC-48C6-671C-A5F0-E3886B3A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Öğretim Üyesinin </a:t>
            </a:r>
            <a:r>
              <a:rPr lang="tr-TR" dirty="0" err="1"/>
              <a:t>Repo’yu</a:t>
            </a:r>
            <a:r>
              <a:rPr lang="tr-TR" dirty="0"/>
              <a:t> Görebilmesi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5B098EA-06CF-0ABB-AEB3-AF1C399A0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Repository</a:t>
            </a:r>
            <a:r>
              <a:rPr lang="tr-TR" dirty="0"/>
              <a:t> </a:t>
            </a:r>
            <a:r>
              <a:rPr lang="tr-TR" dirty="0" err="1"/>
              <a:t>private</a:t>
            </a:r>
            <a:r>
              <a:rPr lang="tr-TR" dirty="0"/>
              <a:t> olduğu için öğretim üyesinin </a:t>
            </a:r>
            <a:r>
              <a:rPr lang="tr-TR" dirty="0" err="1"/>
              <a:t>repository'yi</a:t>
            </a:r>
            <a:r>
              <a:rPr lang="tr-TR" dirty="0"/>
              <a:t> görebilmesi gerekir.</a:t>
            </a:r>
          </a:p>
          <a:p>
            <a:endParaRPr lang="tr-TR" dirty="0"/>
          </a:p>
          <a:p>
            <a:r>
              <a:rPr lang="tr-TR" dirty="0" err="1"/>
              <a:t>Repository</a:t>
            </a:r>
            <a:r>
              <a:rPr lang="tr-TR" dirty="0"/>
              <a:t> içerisinde:</a:t>
            </a:r>
          </a:p>
          <a:p>
            <a:r>
              <a:rPr lang="tr-TR" dirty="0" err="1"/>
              <a:t>Settings</a:t>
            </a:r>
            <a:r>
              <a:rPr lang="tr-TR" dirty="0"/>
              <a:t> → </a:t>
            </a:r>
            <a:r>
              <a:rPr lang="tr-TR" dirty="0" err="1"/>
              <a:t>Collaborators</a:t>
            </a:r>
            <a:r>
              <a:rPr lang="tr-TR" dirty="0"/>
              <a:t> → </a:t>
            </a:r>
            <a:r>
              <a:rPr lang="tr-TR" dirty="0" err="1"/>
              <a:t>Add</a:t>
            </a:r>
            <a:r>
              <a:rPr lang="tr-TR" dirty="0"/>
              <a:t> </a:t>
            </a:r>
            <a:r>
              <a:rPr lang="tr-TR" dirty="0" err="1"/>
              <a:t>people</a:t>
            </a:r>
            <a:r>
              <a:rPr lang="tr-TR" dirty="0"/>
              <a:t> bölümüne giriniz.</a:t>
            </a:r>
          </a:p>
          <a:p>
            <a:r>
              <a:rPr lang="tr-TR" dirty="0"/>
              <a:t>Öğretim üyesinin </a:t>
            </a:r>
            <a:r>
              <a:rPr lang="tr-TR" dirty="0" err="1"/>
              <a:t>GitHub</a:t>
            </a:r>
            <a:r>
              <a:rPr lang="tr-TR" dirty="0"/>
              <a:t> kullanıcı adını ekleyiniz.</a:t>
            </a:r>
          </a:p>
          <a:p>
            <a:r>
              <a:rPr lang="tr-TR" dirty="0"/>
              <a:t>Öğretim üyesi daveti kabul ettikten sonra </a:t>
            </a:r>
            <a:r>
              <a:rPr lang="tr-TR" dirty="0" err="1"/>
              <a:t>repository'ye</a:t>
            </a:r>
            <a:r>
              <a:rPr lang="tr-TR" dirty="0"/>
              <a:t> erişebilir.</a:t>
            </a:r>
          </a:p>
          <a:p>
            <a:r>
              <a:rPr lang="tr-TR" dirty="0"/>
              <a:t>Fatih KAPLAN için </a:t>
            </a:r>
            <a:r>
              <a:rPr lang="tr-TR" dirty="0" err="1"/>
              <a:t>Github</a:t>
            </a:r>
            <a:r>
              <a:rPr lang="tr-TR" dirty="0"/>
              <a:t> kullanıcı adı : </a:t>
            </a:r>
            <a:r>
              <a:rPr lang="tr-TR" b="1" dirty="0" err="1"/>
              <a:t>fatihkaplanfk</a:t>
            </a:r>
            <a:r>
              <a:rPr lang="tr-TR" b="1" dirty="0"/>
              <a:t>  </a:t>
            </a:r>
            <a:r>
              <a:rPr lang="tr-TR" dirty="0"/>
              <a:t>olarak ekleyiniz.</a:t>
            </a:r>
          </a:p>
        </p:txBody>
      </p:sp>
    </p:spTree>
    <p:extLst>
      <p:ext uri="{BB962C8B-B14F-4D97-AF65-F5344CB8AC3E}">
        <p14:creationId xmlns:p14="http://schemas.microsoft.com/office/powerpoint/2010/main" val="1120429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8D7B77-5B7A-DC32-D9D5-628BD0F6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Repository'yi</a:t>
            </a:r>
            <a:r>
              <a:rPr lang="tr-TR" dirty="0"/>
              <a:t> bilgisayara indirme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7EA77E-002B-D755-53C9-9F08CD59D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Repository</a:t>
            </a:r>
            <a:r>
              <a:rPr lang="tr-TR" dirty="0"/>
              <a:t> ana sayfasındaki: </a:t>
            </a:r>
            <a:r>
              <a:rPr lang="tr-TR" b="1" dirty="0" err="1"/>
              <a:t>Code</a:t>
            </a:r>
            <a:r>
              <a:rPr lang="tr-TR" dirty="0"/>
              <a:t> butonuna basınız.</a:t>
            </a:r>
          </a:p>
          <a:p>
            <a:r>
              <a:rPr lang="tr-TR" b="1" dirty="0"/>
              <a:t>HTTPS</a:t>
            </a:r>
            <a:r>
              <a:rPr lang="tr-TR" dirty="0"/>
              <a:t> seçeneğinin seçili olduğundan emin olunuz.</a:t>
            </a:r>
          </a:p>
          <a:p>
            <a:r>
              <a:rPr lang="tr-TR" dirty="0"/>
              <a:t>Adres aşağıdakine benzer olacaktır (örnek):</a:t>
            </a:r>
          </a:p>
          <a:p>
            <a:r>
              <a:rPr lang="tr-TR" dirty="0">
                <a:hlinkClick r:id="rId2"/>
              </a:rPr>
              <a:t>https://github.com/kullaniciadi/SecSoftwareLab-ÖğrenciNo.git</a:t>
            </a:r>
            <a:endParaRPr lang="tr-TR" dirty="0"/>
          </a:p>
          <a:p>
            <a:r>
              <a:rPr lang="tr-TR" dirty="0"/>
              <a:t>Adresin yanındaki kopyalama butonuna basınız.</a:t>
            </a:r>
          </a:p>
        </p:txBody>
      </p:sp>
    </p:spTree>
    <p:extLst>
      <p:ext uri="{BB962C8B-B14F-4D97-AF65-F5344CB8AC3E}">
        <p14:creationId xmlns:p14="http://schemas.microsoft.com/office/powerpoint/2010/main" val="3365989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01C91B-3FB1-3ABF-AEFC-7AA0EF89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Bilgisayarda çalışma alanının oluşturulması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B667E6A-428E-98E0-99CA-FAE99532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tr-TR" dirty="0"/>
              <a:t>Git </a:t>
            </a:r>
            <a:r>
              <a:rPr lang="tr-TR" dirty="0" err="1"/>
              <a:t>Bash'i</a:t>
            </a:r>
            <a:r>
              <a:rPr lang="tr-TR" dirty="0"/>
              <a:t> açınız.</a:t>
            </a:r>
          </a:p>
          <a:p>
            <a:pPr marL="0" indent="0">
              <a:buNone/>
            </a:pPr>
            <a:r>
              <a:rPr lang="tr-TR" dirty="0"/>
              <a:t>Örneğin </a:t>
            </a:r>
            <a:r>
              <a:rPr lang="tr-TR" dirty="0" err="1"/>
              <a:t>repository'yi</a:t>
            </a:r>
            <a:r>
              <a:rPr lang="tr-TR" dirty="0"/>
              <a:t> Belgeler klasörüne almak istiyorsak:</a:t>
            </a:r>
          </a:p>
          <a:p>
            <a:r>
              <a:rPr lang="tr-TR" dirty="0"/>
              <a:t>cd ~/</a:t>
            </a:r>
            <a:r>
              <a:rPr lang="tr-TR" dirty="0" err="1"/>
              <a:t>Documents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Şimdi </a:t>
            </a:r>
            <a:r>
              <a:rPr lang="tr-TR" dirty="0" err="1"/>
              <a:t>GitHub'dan</a:t>
            </a:r>
            <a:r>
              <a:rPr lang="tr-TR" dirty="0"/>
              <a:t> </a:t>
            </a:r>
            <a:r>
              <a:rPr lang="tr-TR" dirty="0" err="1"/>
              <a:t>repository'yi</a:t>
            </a:r>
            <a:r>
              <a:rPr lang="tr-TR" dirty="0"/>
              <a:t> bilgisayarımıza indirelim:</a:t>
            </a:r>
          </a:p>
          <a:p>
            <a:r>
              <a:rPr lang="tr-TR" dirty="0"/>
              <a:t>git </a:t>
            </a:r>
            <a:r>
              <a:rPr lang="tr-TR" dirty="0" err="1"/>
              <a:t>clone</a:t>
            </a:r>
            <a:r>
              <a:rPr lang="tr-TR" dirty="0"/>
              <a:t> https://github.com/KULLANICIADI/</a:t>
            </a:r>
            <a:r>
              <a:rPr lang="tr-TR" dirty="0">
                <a:hlinkClick r:id="rId2"/>
              </a:rPr>
              <a:t>SecSoftwareLab</a:t>
            </a:r>
            <a:r>
              <a:rPr lang="tr-TR" dirty="0"/>
              <a:t>-ÖğrenciNo.git</a:t>
            </a:r>
          </a:p>
          <a:p>
            <a:pPr marL="0" indent="0">
              <a:buNone/>
            </a:pPr>
            <a:r>
              <a:rPr lang="tr-TR" dirty="0"/>
              <a:t>Kendi </a:t>
            </a:r>
            <a:r>
              <a:rPr lang="tr-TR" dirty="0" err="1"/>
              <a:t>repository</a:t>
            </a:r>
            <a:r>
              <a:rPr lang="tr-TR" dirty="0"/>
              <a:t> adresinizi kullanınız.</a:t>
            </a:r>
          </a:p>
          <a:p>
            <a:pPr marL="0" indent="0">
              <a:buNone/>
            </a:pPr>
            <a:r>
              <a:rPr lang="tr-TR" dirty="0"/>
              <a:t>İşlem tamamlandığında:</a:t>
            </a:r>
          </a:p>
          <a:p>
            <a:r>
              <a:rPr lang="tr-TR" dirty="0"/>
              <a:t>cd </a:t>
            </a:r>
            <a:r>
              <a:rPr lang="tr-TR" dirty="0" err="1">
                <a:hlinkClick r:id="rId2"/>
              </a:rPr>
              <a:t>SecSoftwareLab</a:t>
            </a:r>
            <a:r>
              <a:rPr lang="tr-TR" dirty="0" err="1"/>
              <a:t>-ÖğrenciNo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komutu ile </a:t>
            </a:r>
            <a:r>
              <a:rPr lang="tr-TR" dirty="0" err="1"/>
              <a:t>repository</a:t>
            </a:r>
            <a:r>
              <a:rPr lang="tr-TR" dirty="0"/>
              <a:t> klasörüne giriniz.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17804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D533FF-416B-03A3-708B-FC294132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Repository</a:t>
            </a:r>
            <a:r>
              <a:rPr lang="tr-TR" dirty="0"/>
              <a:t> içerisinde olduğumuzu kontrol edelim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02F4620-A274-467C-6379-066BA0571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status</a:t>
            </a:r>
            <a:r>
              <a:rPr lang="tr-TR" dirty="0"/>
              <a:t> komutunu çalıştırınca aşağıdaki gibi bir çıktı gelmelidir:</a:t>
            </a:r>
          </a:p>
          <a:p>
            <a:pPr marL="0" indent="0">
              <a:buNone/>
            </a:pPr>
            <a:r>
              <a:rPr lang="en-US" dirty="0"/>
              <a:t>On branch main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Your branch is up to date with 'origin/main’.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Bu komut çok önemlidir. Çalışırken sık sık: </a:t>
            </a:r>
            <a:r>
              <a:rPr lang="tr-TR" b="1" dirty="0"/>
              <a:t>git </a:t>
            </a:r>
            <a:r>
              <a:rPr lang="tr-TR" b="1" dirty="0" err="1"/>
              <a:t>status</a:t>
            </a:r>
            <a:r>
              <a:rPr lang="tr-TR" b="1" dirty="0"/>
              <a:t> </a:t>
            </a:r>
            <a:r>
              <a:rPr lang="tr-TR" dirty="0"/>
              <a:t>kullanacağız</a:t>
            </a:r>
          </a:p>
        </p:txBody>
      </p:sp>
    </p:spTree>
    <p:extLst>
      <p:ext uri="{BB962C8B-B14F-4D97-AF65-F5344CB8AC3E}">
        <p14:creationId xmlns:p14="http://schemas.microsoft.com/office/powerpoint/2010/main" val="4255778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893716-99F3-F189-8771-6871034C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hafta klasörünün oluşturulması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9C8F74-ADCC-7FF5-E4EC-D7E069C2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 err="1"/>
              <a:t>Repository</a:t>
            </a:r>
            <a:r>
              <a:rPr lang="tr-TR" dirty="0"/>
              <a:t> içerisinde:</a:t>
            </a:r>
          </a:p>
          <a:p>
            <a:pPr marL="0" indent="0">
              <a:buNone/>
            </a:pPr>
            <a:r>
              <a:rPr lang="tr-TR" dirty="0" err="1"/>
              <a:t>mkdir</a:t>
            </a:r>
            <a:r>
              <a:rPr lang="tr-TR" dirty="0"/>
              <a:t> week01 komutunu çalıştırınız.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Klasör yapımız artık: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>
                <a:hlinkClick r:id="rId2"/>
              </a:rPr>
              <a:t>SecSoftwareLab</a:t>
            </a:r>
            <a:r>
              <a:rPr lang="tr-TR" dirty="0" err="1"/>
              <a:t>-ÖğrenciNo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├ README.md </a:t>
            </a:r>
          </a:p>
          <a:p>
            <a:pPr marL="0" indent="0">
              <a:buNone/>
            </a:pPr>
            <a:r>
              <a:rPr lang="tr-TR" dirty="0"/>
              <a:t> └── week01/  şeklindedir.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924833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3F6506-1C7D-DC52-41C3-7AF444BC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İlk dosyamızı oluşturalım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986F94-8443-F38C-A2A6-28D91441F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week01 klasörünün içerisinde:</a:t>
            </a:r>
          </a:p>
          <a:p>
            <a:r>
              <a:rPr lang="tr-TR" dirty="0"/>
              <a:t>test.py isimli bir dosya oluşturunuz.</a:t>
            </a:r>
          </a:p>
          <a:p>
            <a:r>
              <a:rPr lang="tr-TR" dirty="0"/>
              <a:t>İçerisine: </a:t>
            </a:r>
            <a:r>
              <a:rPr lang="tr-TR" dirty="0" err="1"/>
              <a:t>print</a:t>
            </a:r>
            <a:r>
              <a:rPr lang="tr-TR" dirty="0"/>
              <a:t>("Git ve </a:t>
            </a:r>
            <a:r>
              <a:rPr lang="tr-TR" dirty="0" err="1"/>
              <a:t>GitHub</a:t>
            </a:r>
            <a:r>
              <a:rPr lang="tr-TR" dirty="0"/>
              <a:t> ilk uygulama") yazınız</a:t>
            </a:r>
          </a:p>
          <a:p>
            <a:r>
              <a:rPr lang="tr-TR" dirty="0"/>
              <a:t>Dosyayı kaydediniz.</a:t>
            </a:r>
          </a:p>
        </p:txBody>
      </p:sp>
    </p:spTree>
    <p:extLst>
      <p:ext uri="{BB962C8B-B14F-4D97-AF65-F5344CB8AC3E}">
        <p14:creationId xmlns:p14="http://schemas.microsoft.com/office/powerpoint/2010/main" val="172654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52DCF6-77DF-D843-1F4D-7C0D6B2C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Git değişikliği görüyor mu?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605CE5-B1F7-0571-7C70-8B1DB5895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Git </a:t>
            </a:r>
            <a:r>
              <a:rPr lang="tr-TR" dirty="0" err="1"/>
              <a:t>Bash'e</a:t>
            </a:r>
            <a:r>
              <a:rPr lang="tr-TR" dirty="0"/>
              <a:t> dönünüz.</a:t>
            </a:r>
          </a:p>
          <a:p>
            <a:r>
              <a:rPr lang="tr-TR" dirty="0"/>
              <a:t>git </a:t>
            </a:r>
            <a:r>
              <a:rPr lang="tr-TR" dirty="0" err="1"/>
              <a:t>status</a:t>
            </a:r>
            <a:r>
              <a:rPr lang="tr-TR" dirty="0"/>
              <a:t> yazın.</a:t>
            </a:r>
          </a:p>
          <a:p>
            <a:r>
              <a:rPr lang="tr-TR" dirty="0"/>
              <a:t>Git bize yeni bir dosya bulunduğunu gösterecektir.</a:t>
            </a:r>
          </a:p>
          <a:p>
            <a:r>
              <a:rPr lang="tr-TR" dirty="0"/>
              <a:t>Burada önemli nokta şudur:</a:t>
            </a:r>
          </a:p>
          <a:p>
            <a:r>
              <a:rPr lang="tr-TR" dirty="0"/>
              <a:t>Dosyayı oluşturduk ancak henüz </a:t>
            </a:r>
            <a:r>
              <a:rPr lang="tr-TR" dirty="0" err="1"/>
              <a:t>Git'e</a:t>
            </a:r>
            <a:r>
              <a:rPr lang="tr-TR" dirty="0"/>
              <a:t> kaydetmedik.</a:t>
            </a:r>
          </a:p>
        </p:txBody>
      </p:sp>
    </p:spTree>
    <p:extLst>
      <p:ext uri="{BB962C8B-B14F-4D97-AF65-F5344CB8AC3E}">
        <p14:creationId xmlns:p14="http://schemas.microsoft.com/office/powerpoint/2010/main" val="714346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83E8B5-47F2-8506-03C3-7502BABBF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Dosyayı </a:t>
            </a:r>
            <a:r>
              <a:rPr lang="tr-TR" dirty="0" err="1"/>
              <a:t>Git'e</a:t>
            </a:r>
            <a:r>
              <a:rPr lang="tr-TR" dirty="0"/>
              <a:t> ekleyelim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7CF72F-9B0D-D682-1126-CF850B98D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000" dirty="0"/>
              <a:t>git </a:t>
            </a:r>
            <a:r>
              <a:rPr lang="tr-TR" sz="3000" dirty="0" err="1"/>
              <a:t>add</a:t>
            </a:r>
            <a:r>
              <a:rPr lang="tr-TR" sz="3000" dirty="0"/>
              <a:t> . </a:t>
            </a:r>
          </a:p>
          <a:p>
            <a:pPr marL="0" indent="0">
              <a:buNone/>
            </a:pPr>
            <a:r>
              <a:rPr lang="tr-TR" sz="3000" dirty="0"/>
              <a:t>çalıştırınız. Tekrar: git </a:t>
            </a:r>
            <a:r>
              <a:rPr lang="tr-TR" sz="3000" dirty="0" err="1"/>
              <a:t>status</a:t>
            </a:r>
            <a:r>
              <a:rPr lang="tr-TR" sz="3000" dirty="0"/>
              <a:t> yazın.</a:t>
            </a:r>
          </a:p>
          <a:p>
            <a:pPr marL="0" indent="0">
              <a:buNone/>
            </a:pPr>
            <a:r>
              <a:rPr lang="tr-TR" sz="3000" dirty="0"/>
              <a:t>Dosyanın artık </a:t>
            </a:r>
            <a:r>
              <a:rPr lang="tr-TR" sz="3000" dirty="0" err="1"/>
              <a:t>commit</a:t>
            </a:r>
            <a:r>
              <a:rPr lang="tr-TR" sz="3000" dirty="0"/>
              <a:t> edilmeye hazır olduğunu göreceksiniz.</a:t>
            </a:r>
          </a:p>
          <a:p>
            <a:pPr marL="0" indent="0">
              <a:buNone/>
            </a:pPr>
            <a:r>
              <a:rPr lang="tr-TR" sz="3000" dirty="0"/>
              <a:t>git </a:t>
            </a:r>
            <a:r>
              <a:rPr lang="tr-TR" sz="3000" dirty="0" err="1"/>
              <a:t>add</a:t>
            </a:r>
            <a:r>
              <a:rPr lang="tr-TR" sz="3000" dirty="0"/>
              <a:t> . ne yaptı?</a:t>
            </a:r>
          </a:p>
          <a:p>
            <a:pPr marL="0" indent="0">
              <a:buNone/>
            </a:pPr>
            <a:r>
              <a:rPr lang="tr-TR" sz="3000" dirty="0" err="1"/>
              <a:t>Repository</a:t>
            </a:r>
            <a:r>
              <a:rPr lang="tr-TR" sz="3000" dirty="0"/>
              <a:t> içerisindeki değişiklikleri bir sonraki </a:t>
            </a:r>
            <a:r>
              <a:rPr lang="tr-TR" sz="3000" dirty="0" err="1"/>
              <a:t>commit</a:t>
            </a:r>
            <a:r>
              <a:rPr lang="tr-TR" sz="3000" dirty="0"/>
              <a:t> içerisine alınmak üzere hazırladı.</a:t>
            </a:r>
          </a:p>
          <a:p>
            <a:pPr marL="0" indent="0">
              <a:buNone/>
            </a:pPr>
            <a:r>
              <a:rPr lang="tr-TR" sz="3000" dirty="0"/>
              <a:t>Henüz </a:t>
            </a:r>
            <a:r>
              <a:rPr lang="tr-TR" sz="3000" dirty="0" err="1"/>
              <a:t>GitHub'a</a:t>
            </a:r>
            <a:r>
              <a:rPr lang="tr-TR" sz="3000" dirty="0"/>
              <a:t> hiçbir şey göndermedik.</a:t>
            </a:r>
          </a:p>
        </p:txBody>
      </p:sp>
    </p:spTree>
    <p:extLst>
      <p:ext uri="{BB962C8B-B14F-4D97-AF65-F5344CB8AC3E}">
        <p14:creationId xmlns:p14="http://schemas.microsoft.com/office/powerpoint/2010/main" val="26604109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1047D2-1318-D3EE-3DDA-EE8FF1AB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9142"/>
            <a:ext cx="10515600" cy="1325563"/>
          </a:xfrm>
        </p:spPr>
        <p:txBody>
          <a:bodyPr/>
          <a:lstStyle/>
          <a:p>
            <a:r>
              <a:rPr lang="tr-TR" dirty="0"/>
              <a:t>İlk </a:t>
            </a:r>
            <a:r>
              <a:rPr lang="tr-TR" dirty="0" err="1"/>
              <a:t>commitimizi</a:t>
            </a:r>
            <a:r>
              <a:rPr lang="tr-TR" dirty="0"/>
              <a:t> oluşturalım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7F8ECF-94CA-C3C2-1EA3-BF7A49C58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2733"/>
            <a:ext cx="10515600" cy="61552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commit -m "week01: initial setup"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komutunu çalıştırın.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Commit</a:t>
            </a:r>
            <a:r>
              <a:rPr lang="tr-TR" dirty="0"/>
              <a:t> nedir? </a:t>
            </a:r>
            <a:r>
              <a:rPr lang="tr-TR" dirty="0" err="1"/>
              <a:t>Commit</a:t>
            </a:r>
            <a:r>
              <a:rPr lang="tr-TR" dirty="0"/>
              <a:t>, projemizin o andaki durumunun Git tarafından kayıt altına alınmasıdır.</a:t>
            </a:r>
          </a:p>
          <a:p>
            <a:pPr marL="0" indent="0">
              <a:buNone/>
            </a:pPr>
            <a:r>
              <a:rPr lang="tr-TR" dirty="0"/>
              <a:t>Bunu bir çeşit kayıt noktası olarak düşünebiliriz.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Örneğin dönem boyunca:</a:t>
            </a:r>
          </a:p>
          <a:p>
            <a:pPr marL="0" indent="0">
              <a:buNone/>
            </a:pPr>
            <a:r>
              <a:rPr lang="tr-TR" dirty="0"/>
              <a:t>week01: </a:t>
            </a:r>
            <a:r>
              <a:rPr lang="tr-TR" dirty="0" err="1"/>
              <a:t>initial</a:t>
            </a:r>
            <a:r>
              <a:rPr lang="tr-TR" dirty="0"/>
              <a:t> setup</a:t>
            </a:r>
          </a:p>
          <a:p>
            <a:pPr marL="0" indent="0">
              <a:buNone/>
            </a:pPr>
            <a:r>
              <a:rPr lang="tr-TR" dirty="0"/>
              <a:t>week02: </a:t>
            </a:r>
            <a:r>
              <a:rPr lang="tr-TR" dirty="0" err="1"/>
              <a:t>add</a:t>
            </a:r>
            <a:r>
              <a:rPr lang="tr-TR" dirty="0"/>
              <a:t> log </a:t>
            </a:r>
            <a:r>
              <a:rPr lang="tr-TR" dirty="0" err="1"/>
              <a:t>parser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week03: </a:t>
            </a:r>
            <a:r>
              <a:rPr lang="tr-TR" dirty="0" err="1"/>
              <a:t>add</a:t>
            </a:r>
            <a:r>
              <a:rPr lang="tr-TR" dirty="0"/>
              <a:t> </a:t>
            </a:r>
            <a:r>
              <a:rPr lang="tr-TR" dirty="0" err="1"/>
              <a:t>failed</a:t>
            </a:r>
            <a:r>
              <a:rPr lang="tr-TR" dirty="0"/>
              <a:t> login </a:t>
            </a:r>
            <a:r>
              <a:rPr lang="tr-TR" dirty="0" err="1"/>
              <a:t>detection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week04: </a:t>
            </a:r>
            <a:r>
              <a:rPr lang="tr-TR" dirty="0" err="1"/>
              <a:t>add</a:t>
            </a:r>
            <a:r>
              <a:rPr lang="tr-TR" dirty="0"/>
              <a:t> ip </a:t>
            </a:r>
            <a:r>
              <a:rPr lang="tr-TR" dirty="0" err="1"/>
              <a:t>analysis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şeklinde bir geçmiş oluşabilir.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17265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5FFEA1-192E-073D-1154-BAAA6480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Commit'i</a:t>
            </a:r>
            <a:r>
              <a:rPr lang="tr-TR" dirty="0"/>
              <a:t> </a:t>
            </a:r>
            <a:r>
              <a:rPr lang="tr-TR" dirty="0" err="1"/>
              <a:t>GitHub'a</a:t>
            </a:r>
            <a:r>
              <a:rPr lang="tr-TR" dirty="0"/>
              <a:t> gönderme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7BDD8B7-BD0C-5B82-C7A1-459F17103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33" y="1317625"/>
            <a:ext cx="10515600" cy="544724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tr-TR" sz="3000" dirty="0" err="1"/>
              <a:t>Commit</a:t>
            </a:r>
            <a:r>
              <a:rPr lang="tr-TR" sz="3000" dirty="0"/>
              <a:t> şu anda yalnızca bizim bilgisayarımızdadır.</a:t>
            </a:r>
          </a:p>
          <a:p>
            <a:pPr>
              <a:lnSpc>
                <a:spcPct val="100000"/>
              </a:lnSpc>
            </a:pPr>
            <a:r>
              <a:rPr lang="tr-TR" sz="3000" dirty="0" err="1"/>
              <a:t>GitHub'a</a:t>
            </a:r>
            <a:r>
              <a:rPr lang="tr-TR" sz="3000" dirty="0"/>
              <a:t> göndermek için:</a:t>
            </a:r>
          </a:p>
          <a:p>
            <a:pPr>
              <a:lnSpc>
                <a:spcPct val="100000"/>
              </a:lnSpc>
            </a:pPr>
            <a:r>
              <a:rPr lang="tr-TR" sz="3000" dirty="0"/>
              <a:t>git </a:t>
            </a:r>
            <a:r>
              <a:rPr lang="tr-TR" sz="3000" dirty="0" err="1"/>
              <a:t>push</a:t>
            </a:r>
            <a:r>
              <a:rPr lang="tr-TR" sz="3000" dirty="0"/>
              <a:t> komutunu çalıştırın.</a:t>
            </a:r>
          </a:p>
          <a:p>
            <a:pPr>
              <a:lnSpc>
                <a:spcPct val="100000"/>
              </a:lnSpc>
            </a:pPr>
            <a:r>
              <a:rPr lang="tr-TR" sz="3000" dirty="0"/>
              <a:t>İlk kullanımda </a:t>
            </a:r>
            <a:r>
              <a:rPr lang="tr-TR" sz="3000" dirty="0" err="1"/>
              <a:t>GitHub</a:t>
            </a:r>
            <a:r>
              <a:rPr lang="tr-TR" sz="3000" dirty="0"/>
              <a:t> oturum açma/izin ekranı görüntülenebilir.</a:t>
            </a:r>
          </a:p>
          <a:p>
            <a:pPr>
              <a:lnSpc>
                <a:spcPct val="100000"/>
              </a:lnSpc>
            </a:pPr>
            <a:r>
              <a:rPr lang="tr-TR" sz="3000" dirty="0" err="1"/>
              <a:t>GitHub</a:t>
            </a:r>
            <a:r>
              <a:rPr lang="tr-TR" sz="3000" dirty="0"/>
              <a:t> hesabınız ile giriş yaparak erişime izin veriniz.</a:t>
            </a:r>
          </a:p>
          <a:p>
            <a:pPr>
              <a:lnSpc>
                <a:spcPct val="100000"/>
              </a:lnSpc>
            </a:pPr>
            <a:r>
              <a:rPr lang="tr-TR" sz="3000" dirty="0"/>
              <a:t>İşlem tamamlandıktan sonra tarayıcıda </a:t>
            </a:r>
            <a:r>
              <a:rPr lang="tr-TR" sz="3000" dirty="0" err="1"/>
              <a:t>repository'nizi</a:t>
            </a:r>
            <a:r>
              <a:rPr lang="tr-TR" sz="3000" dirty="0"/>
              <a:t> yenileyiniz.</a:t>
            </a:r>
          </a:p>
          <a:p>
            <a:pPr>
              <a:lnSpc>
                <a:spcPct val="100000"/>
              </a:lnSpc>
            </a:pPr>
            <a:r>
              <a:rPr lang="tr-TR" sz="3000" dirty="0"/>
              <a:t>week01 klasörünün ve oluşturduğunuz dosyanın </a:t>
            </a:r>
            <a:r>
              <a:rPr lang="tr-TR" sz="3000" dirty="0" err="1"/>
              <a:t>GitHub</a:t>
            </a:r>
            <a:r>
              <a:rPr lang="tr-TR" sz="3000" dirty="0"/>
              <a:t> üzerinde göründüğünü kontrol ediniz.</a:t>
            </a:r>
          </a:p>
        </p:txBody>
      </p:sp>
    </p:spTree>
    <p:extLst>
      <p:ext uri="{BB962C8B-B14F-4D97-AF65-F5344CB8AC3E}">
        <p14:creationId xmlns:p14="http://schemas.microsoft.com/office/powerpoint/2010/main" val="4097476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42F928-6C17-BA4B-8969-00CC38F4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DB057C0-6C86-69CF-1EE7-4C6561F49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tr-TR" dirty="0"/>
              <a:t>Artık her hafta dosyamızı oluşturacağız veya değiştireceğiz.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Sonra </a:t>
            </a:r>
            <a:r>
              <a:rPr lang="tr-TR" b="1" dirty="0"/>
              <a:t>git </a:t>
            </a:r>
            <a:r>
              <a:rPr lang="tr-TR" b="1" dirty="0" err="1"/>
              <a:t>status</a:t>
            </a:r>
            <a:r>
              <a:rPr lang="tr-TR" b="1" dirty="0"/>
              <a:t> </a:t>
            </a:r>
            <a:r>
              <a:rPr lang="tr-TR" dirty="0"/>
              <a:t>ile değişiklikleri kontrol edeceğiz.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Ardından </a:t>
            </a:r>
            <a:r>
              <a:rPr lang="tr-TR" b="1" dirty="0"/>
              <a:t>git </a:t>
            </a:r>
            <a:r>
              <a:rPr lang="tr-TR" b="1" dirty="0" err="1"/>
              <a:t>add</a:t>
            </a:r>
            <a:r>
              <a:rPr lang="tr-TR" b="1" dirty="0"/>
              <a:t> . </a:t>
            </a:r>
            <a:r>
              <a:rPr lang="tr-TR" dirty="0"/>
              <a:t>ile ekleyeceğiz ve sonrasında</a:t>
            </a:r>
          </a:p>
          <a:p>
            <a:pPr marL="514350" indent="-514350">
              <a:buFont typeface="+mj-lt"/>
              <a:buAutoNum type="arabicPeriod"/>
            </a:pPr>
            <a:r>
              <a:rPr lang="tr-TR" b="1" dirty="0"/>
              <a:t>git </a:t>
            </a:r>
            <a:r>
              <a:rPr lang="tr-TR" b="1" dirty="0" err="1"/>
              <a:t>commit</a:t>
            </a:r>
            <a:r>
              <a:rPr lang="tr-TR" b="1" dirty="0"/>
              <a:t> –m "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yapılan işlemin açıklaması</a:t>
            </a:r>
            <a:r>
              <a:rPr lang="tr-TR" b="1" dirty="0"/>
              <a:t>"</a:t>
            </a:r>
            <a:r>
              <a:rPr lang="tr-T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dirty="0"/>
              <a:t>komutu ile </a:t>
            </a:r>
            <a:r>
              <a:rPr lang="tr-TR" dirty="0" err="1"/>
              <a:t>commit</a:t>
            </a:r>
            <a:r>
              <a:rPr lang="tr-TR" dirty="0"/>
              <a:t> edeceğiz.</a:t>
            </a:r>
          </a:p>
          <a:p>
            <a:pPr marL="514350" indent="-514350">
              <a:buFont typeface="+mj-lt"/>
              <a:buAutoNum type="arabicPeriod"/>
            </a:pPr>
            <a:r>
              <a:rPr lang="tr-TR" dirty="0"/>
              <a:t>Son olarak </a:t>
            </a:r>
            <a:r>
              <a:rPr lang="tr-TR" b="1" dirty="0"/>
              <a:t>git </a:t>
            </a:r>
            <a:r>
              <a:rPr lang="tr-TR" b="1" dirty="0" err="1"/>
              <a:t>push</a:t>
            </a:r>
            <a:r>
              <a:rPr lang="tr-TR" b="1" dirty="0"/>
              <a:t> </a:t>
            </a:r>
            <a:r>
              <a:rPr lang="tr-TR" dirty="0"/>
              <a:t>ederek </a:t>
            </a:r>
            <a:r>
              <a:rPr lang="tr-TR" dirty="0" err="1"/>
              <a:t>github’ta</a:t>
            </a:r>
            <a:r>
              <a:rPr lang="tr-TR" dirty="0"/>
              <a:t> görünmesini sağlayacağız.</a:t>
            </a:r>
          </a:p>
        </p:txBody>
      </p:sp>
    </p:spTree>
    <p:extLst>
      <p:ext uri="{BB962C8B-B14F-4D97-AF65-F5344CB8AC3E}">
        <p14:creationId xmlns:p14="http://schemas.microsoft.com/office/powerpoint/2010/main" val="973319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DE131C-5414-F8E2-B3E8-25945B20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Önemli kavramlar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4CF8B2-16FB-B316-35AF-E35DE2322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9800" cy="493924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b="1" dirty="0" err="1"/>
              <a:t>Repository</a:t>
            </a:r>
            <a:r>
              <a:rPr lang="tr-TR" dirty="0"/>
              <a:t>: Bir projenin Git tarafından takip edilen ana klasörüdür.</a:t>
            </a:r>
          </a:p>
          <a:p>
            <a:pPr>
              <a:lnSpc>
                <a:spcPct val="150000"/>
              </a:lnSpc>
            </a:pPr>
            <a:r>
              <a:rPr lang="tr-TR" b="1" dirty="0" err="1"/>
              <a:t>Clone</a:t>
            </a:r>
            <a:r>
              <a:rPr lang="tr-TR" dirty="0"/>
              <a:t>: </a:t>
            </a:r>
            <a:r>
              <a:rPr lang="tr-TR" dirty="0" err="1"/>
              <a:t>GitHub’daki</a:t>
            </a:r>
            <a:r>
              <a:rPr lang="tr-TR" dirty="0"/>
              <a:t> </a:t>
            </a:r>
            <a:r>
              <a:rPr lang="tr-TR" dirty="0" err="1"/>
              <a:t>repository’nin</a:t>
            </a:r>
            <a:r>
              <a:rPr lang="tr-TR" dirty="0"/>
              <a:t> bilgisayarımıza alınmasıdır.</a:t>
            </a:r>
          </a:p>
          <a:p>
            <a:pPr>
              <a:lnSpc>
                <a:spcPct val="150000"/>
              </a:lnSpc>
            </a:pPr>
            <a:r>
              <a:rPr lang="tr-TR" b="1" dirty="0" err="1"/>
              <a:t>Add</a:t>
            </a:r>
            <a:r>
              <a:rPr lang="tr-TR" dirty="0"/>
              <a:t>: yaptığımız değişiklikleri </a:t>
            </a:r>
            <a:r>
              <a:rPr lang="tr-TR" dirty="0" err="1"/>
              <a:t>commit</a:t>
            </a:r>
            <a:r>
              <a:rPr lang="tr-TR" dirty="0"/>
              <a:t> için hazırlar.</a:t>
            </a:r>
          </a:p>
          <a:p>
            <a:pPr>
              <a:lnSpc>
                <a:spcPct val="150000"/>
              </a:lnSpc>
            </a:pPr>
            <a:r>
              <a:rPr lang="tr-TR" b="1" dirty="0" err="1"/>
              <a:t>Commit</a:t>
            </a:r>
            <a:r>
              <a:rPr lang="tr-TR" dirty="0"/>
              <a:t>: Değişikliklerin o andaki durumunu kayıt altına alır.</a:t>
            </a:r>
          </a:p>
          <a:p>
            <a:pPr>
              <a:lnSpc>
                <a:spcPct val="150000"/>
              </a:lnSpc>
            </a:pPr>
            <a:r>
              <a:rPr lang="tr-TR" b="1" dirty="0" err="1"/>
              <a:t>Push</a:t>
            </a:r>
            <a:r>
              <a:rPr lang="tr-TR" dirty="0"/>
              <a:t>: Bilgisayarımızdaki </a:t>
            </a:r>
            <a:r>
              <a:rPr lang="tr-TR" dirty="0" err="1"/>
              <a:t>commitleri</a:t>
            </a:r>
            <a:r>
              <a:rPr lang="tr-TR" dirty="0"/>
              <a:t> </a:t>
            </a:r>
            <a:r>
              <a:rPr lang="tr-TR" dirty="0" err="1"/>
              <a:t>GitHub’a</a:t>
            </a:r>
            <a:r>
              <a:rPr lang="tr-TR" dirty="0"/>
              <a:t> gönderir.</a:t>
            </a:r>
          </a:p>
          <a:p>
            <a:pPr>
              <a:lnSpc>
                <a:spcPct val="150000"/>
              </a:lnSpc>
            </a:pPr>
            <a:r>
              <a:rPr lang="tr-TR" b="1" dirty="0" err="1"/>
              <a:t>Status</a:t>
            </a:r>
            <a:r>
              <a:rPr lang="tr-TR" dirty="0"/>
              <a:t>: </a:t>
            </a:r>
            <a:r>
              <a:rPr lang="tr-TR" dirty="0" err="1"/>
              <a:t>Repository’nin</a:t>
            </a:r>
            <a:r>
              <a:rPr lang="tr-TR" dirty="0"/>
              <a:t> mevcut durumunu gösterir.</a:t>
            </a:r>
          </a:p>
        </p:txBody>
      </p:sp>
    </p:spTree>
    <p:extLst>
      <p:ext uri="{BB962C8B-B14F-4D97-AF65-F5344CB8AC3E}">
        <p14:creationId xmlns:p14="http://schemas.microsoft.com/office/powerpoint/2010/main" val="1050174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F9C695-B67C-EFC7-3193-CC1D5CEFA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Şimdilik </a:t>
            </a:r>
            <a:r>
              <a:rPr lang="tr-TR" u="sng" dirty="0"/>
              <a:t>kullanmayacağımız</a:t>
            </a:r>
            <a:r>
              <a:rPr lang="tr-TR" dirty="0"/>
              <a:t> şeyler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7E2731-6CA3-FC9D-0702-0C3B77C61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Branch</a:t>
            </a:r>
            <a:endParaRPr lang="tr-TR" dirty="0"/>
          </a:p>
          <a:p>
            <a:r>
              <a:rPr lang="tr-TR" dirty="0" err="1"/>
              <a:t>Merge</a:t>
            </a:r>
            <a:endParaRPr lang="tr-TR" dirty="0"/>
          </a:p>
          <a:p>
            <a:r>
              <a:rPr lang="tr-TR" dirty="0" err="1"/>
              <a:t>Pull</a:t>
            </a:r>
            <a:r>
              <a:rPr lang="tr-TR" dirty="0"/>
              <a:t> </a:t>
            </a:r>
            <a:r>
              <a:rPr lang="tr-TR" dirty="0" err="1"/>
              <a:t>Request</a:t>
            </a:r>
            <a:endParaRPr lang="tr-TR" dirty="0"/>
          </a:p>
          <a:p>
            <a:r>
              <a:rPr lang="tr-TR" dirty="0" err="1"/>
              <a:t>Fork</a:t>
            </a:r>
            <a:endParaRPr lang="tr-TR" dirty="0"/>
          </a:p>
          <a:p>
            <a:r>
              <a:rPr lang="tr-TR" dirty="0"/>
              <a:t>SSH </a:t>
            </a:r>
            <a:r>
              <a:rPr lang="tr-TR" dirty="0" err="1"/>
              <a:t>Key</a:t>
            </a:r>
            <a:endParaRPr lang="tr-TR" dirty="0"/>
          </a:p>
          <a:p>
            <a:r>
              <a:rPr lang="tr-TR" dirty="0" err="1"/>
              <a:t>Github</a:t>
            </a:r>
            <a:r>
              <a:rPr lang="tr-TR" dirty="0"/>
              <a:t> </a:t>
            </a:r>
            <a:r>
              <a:rPr lang="tr-TR" dirty="0" err="1"/>
              <a:t>Actions</a:t>
            </a:r>
            <a:endParaRPr lang="tr-TR" dirty="0"/>
          </a:p>
          <a:p>
            <a:r>
              <a:rPr lang="tr-TR" dirty="0" err="1"/>
              <a:t>Github</a:t>
            </a:r>
            <a:r>
              <a:rPr lang="tr-TR" dirty="0"/>
              <a:t> Desktop</a:t>
            </a:r>
          </a:p>
        </p:txBody>
      </p:sp>
    </p:spTree>
    <p:extLst>
      <p:ext uri="{BB962C8B-B14F-4D97-AF65-F5344CB8AC3E}">
        <p14:creationId xmlns:p14="http://schemas.microsoft.com/office/powerpoint/2010/main" val="20937773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İD" val="e62d5792-84e2-41de-a129-31815c8f5f23"/>
  <p:tag name="CLASSİFİCATİONTAGSETID" val="e16409a7-1700-4153-9090-3955bc2f0ae8"/>
  <p:tag name="CLASSİFİCATİON" val="Anonim"/>
  <p:tag name="COMPLİANCETAGSETID" val="f14fc1f1-8950-40d5-8a29-45909da947d6"/>
  <p:tag name="FİLEID" val="e62d5792-84e2-41de-a129-31815c8f5f23"/>
  <p:tag name="USERID" val="Fatih Kaplan"/>
  <p:tag name="TAGDATETİME" val="2026-09-24T06:28:39Z"/>
  <p:tag name="GVDATA" val="eyJPUyI6IldpbmRvd3MiLCJkb2NJRCI6ImU2MmQ1NzkyLTg0ZTItNDFkZS1hMTI5LTMxODE1YzhmNWYyMyIsImRvY1N0YXRlIjoie30iLCJwYXJlbnRMaW5lSWRzIjoiW1wiZThhNTRkNTgtM2I3Zi00MzlkLTg3NDQtNjRkMjFiM2E3MzkxXCIsXCJjYmM0ZTY3ZS0z"/>
  <p:tag name="GVDATA0" val="MWUwLTRlODAtYjk5Zi1kYzRmYTgzNTFmYzhcIixcIjI0YWRlOTI3LTNmNDEtNDYzZC1iNWM2LTkyZDZjMWNhMDAzNlwiLFwiN2Y0M2MwMjItNzg4Mi00NzQ0LTg2MzQtYjg1ZWI5MWM0NjQxXCIsXCI0N2Q1YTkxNC00NTQ1LTQ2N2QtYTU4Ni1iNTc4OGJjN2VmYjhc"/>
  <p:tag name="GVDATA1" val="IixcIjAyZjdmM2E2LWI3NWEtNDNhOS05ZWQ1LTY5ZTM2NmRlNDc1OVwiLFwiYjQ5NDg2ZDEtZGZkYS00YjM2LWIxMDEtOGYzZjQ1YjU4MzZjXCIsXCI5NjZiYTZlOC00ZTFhLTRkNTgtODcxMC04MjJjZGIwZDUxNmNcIixcIjg2NDE4Mjk2LWZmNTUtNDc4NC05Y2Jh"/>
  <p:tag name="GVDATA2" val="LWM4Mjc3MGMwNzgzNFwiXSIsIndyaXR0ZW5LZXlzIjoiW1wiQ2xhc3NpZmljYXRpb25cIixcIkNsYXNzaWZpY2F0aW9uVGFnU2V0SWRcIixcIkNvbXBsaWFuY2VUYWdTZXRJZFwiLFwiRmlsZUlkXCIsXCJndmRvY2lkXCIsXCJUYWdEYXRlVGltZVwiLFwiVXNlcklk"/>
  <p:tag name="GVDATA3" val="XCJdIiwibm9PZkd2RGF0YUVudHJpZXMiOiI1IiwibGluZUlkIjoiZDgxMTBmNGYtMDNjZS00OTA3LTllM2EtYWIwOTUyNmYwZGMwIiwidGFnc2V0X2UxNjQwOWE3XzE3MDBfNDE1M185MDkwXzM5NTViYzJmMGFlOF9jbGFzc2lmaWNhdGlvbiI6IlB1YmxpYyJ9"/>
  <p:tag name="GVDATA4" val="(end)"/>
</p:tagLst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1394</Words>
  <Application>Microsoft Office PowerPoint</Application>
  <PresentationFormat>Geniş ekran</PresentationFormat>
  <Paragraphs>307</Paragraphs>
  <Slides>35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Arial Unicode MS</vt:lpstr>
      <vt:lpstr>Calibri</vt:lpstr>
      <vt:lpstr>Office Teması</vt:lpstr>
      <vt:lpstr>Python Ortamı ve Git</vt:lpstr>
      <vt:lpstr>IDE — Integrated Development Environment</vt:lpstr>
      <vt:lpstr>student/week01_setup_check.py</vt:lpstr>
      <vt:lpstr>import sys Ne Yapıyor?</vt:lpstr>
      <vt:lpstr>Her Projede Aynı Paketler mi Olacak?</vt:lpstr>
      <vt:lpstr>Virtual Environment — venv</vt:lpstr>
      <vt:lpstr>venv Oluşturma</vt:lpstr>
      <vt:lpstr>requirements.txt</vt:lpstr>
      <vt:lpstr>Git Nedir?</vt:lpstr>
      <vt:lpstr>Temel Git Kavramları</vt:lpstr>
      <vt:lpstr>Git Repository</vt:lpstr>
      <vt:lpstr>Commit</vt:lpstr>
      <vt:lpstr>README Nedir?</vt:lpstr>
      <vt:lpstr>İyi Bir README Ne Anlatmalı?</vt:lpstr>
      <vt:lpstr>Örnek README</vt:lpstr>
      <vt:lpstr>Uygulama</vt:lpstr>
      <vt:lpstr>Git Kurulumu</vt:lpstr>
      <vt:lpstr>Git kurulumu</vt:lpstr>
      <vt:lpstr>Git kullanıcı bilgilerinin tanımlanması</vt:lpstr>
      <vt:lpstr>GitHub hesabının oluşturulması</vt:lpstr>
      <vt:lpstr>Ders repository'sinin oluşturulması</vt:lpstr>
      <vt:lpstr>Repository ayarları</vt:lpstr>
      <vt:lpstr>Öğretim Üyesinin Repo’yu Görebilmesi</vt:lpstr>
      <vt:lpstr>Repository'yi bilgisayara indirme</vt:lpstr>
      <vt:lpstr>Bilgisayarda çalışma alanının oluşturulması</vt:lpstr>
      <vt:lpstr>Repository içerisinde olduğumuzu kontrol edelim</vt:lpstr>
      <vt:lpstr>İlk hafta klasörünün oluşturulması</vt:lpstr>
      <vt:lpstr>İlk dosyamızı oluşturalım</vt:lpstr>
      <vt:lpstr>Git değişikliği görüyor mu?</vt:lpstr>
      <vt:lpstr>Dosyayı Git'e ekleyelim</vt:lpstr>
      <vt:lpstr>İlk commitimizi oluşturalım</vt:lpstr>
      <vt:lpstr>Commit'i GitHub'a gönderme</vt:lpstr>
      <vt:lpstr>ÖZET</vt:lpstr>
      <vt:lpstr>Önemli kavramlar</vt:lpstr>
      <vt:lpstr>Şimdilik kullanmayacağımız şeyler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Fatih Kaplan</dc:creator>
  <cp:lastModifiedBy>Fatih Kaplan</cp:lastModifiedBy>
  <cp:revision>1</cp:revision>
  <dcterms:created xsi:type="dcterms:W3CDTF">2026-09-19T19:34:48Z</dcterms:created>
  <dcterms:modified xsi:type="dcterms:W3CDTF">2026-09-24T06:28:39Z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e62d5792-84e2-41de-a129-31815c8f5f23</vt:lpwstr>
  </property>
  <property fmtid="{D5CDD505-2E9C-101B-9397-08002B2CF9AE}" pid="3" name="ClassificationTagSetId">
    <vt:lpwstr>e16409a7-1700-4153-9090-3955bc2f0ae8</vt:lpwstr>
  </property>
  <property fmtid="{D5CDD505-2E9C-101B-9397-08002B2CF9AE}" pid="4" name="ComplianceTagSetId">
    <vt:lpwstr>f14fc1f1-8950-40d5-8a29-45909da947d6</vt:lpwstr>
  </property>
  <property fmtid="{D5CDD505-2E9C-101B-9397-08002B2CF9AE}" pid="5" name="FileId">
    <vt:lpwstr>e62d5792-84e2-41de-a129-31815c8f5f23</vt:lpwstr>
  </property>
  <property fmtid="{D5CDD505-2E9C-101B-9397-08002B2CF9AE}" pid="6" name="Classification">
    <vt:lpwstr>Anonim</vt:lpwstr>
  </property>
  <property fmtid="{D5CDD505-2E9C-101B-9397-08002B2CF9AE}" pid="7" name="GVData4">
    <vt:lpwstr>(end)</vt:lpwstr>
  </property>
  <property fmtid="{D5CDD505-2E9C-101B-9397-08002B2CF9AE}" pid="8" name="UserId">
    <vt:lpwstr>Fatih Kaplan</vt:lpwstr>
  </property>
  <property fmtid="{D5CDD505-2E9C-101B-9397-08002B2CF9AE}" pid="9" name="TagDateTime">
    <vt:lpwstr>2026-09-24T06:28:39Z</vt:lpwstr>
  </property>
  <property fmtid="{D5CDD505-2E9C-101B-9397-08002B2CF9AE}" pid="10" name="GVData">
    <vt:lpwstr>eyJPUyI6IldpbmRvd3MiLCJkb2NJRCI6ImU2MmQ1NzkyLTg0ZTItNDFkZS1hMTI5LTMxODE1YzhmNWYyMyIsImRvY1N0YXRlIjoie30iLCJwYXJlbnRMaW5lSWRzIjoiW1wiZThhNTRkNTgtM2I3Zi00MzlkLTg3NDQtNjRkMjFiM2E3MzkxXCIsXCJjYmM0ZTY3ZS0z</vt:lpwstr>
  </property>
  <property fmtid="{D5CDD505-2E9C-101B-9397-08002B2CF9AE}" pid="11" name="GVData0">
    <vt:lpwstr>MWUwLTRlODAtYjk5Zi1kYzRmYTgzNTFmYzhcIixcIjI0YWRlOTI3LTNmNDEtNDYzZC1iNWM2LTkyZDZjMWNhMDAzNlwiLFwiN2Y0M2MwMjItNzg4Mi00NzQ0LTg2MzQtYjg1ZWI5MWM0NjQxXCIsXCI0N2Q1YTkxNC00NTQ1LTQ2N2QtYTU4Ni1iNTc4OGJjN2VmYjhc</vt:lpwstr>
  </property>
  <property fmtid="{D5CDD505-2E9C-101B-9397-08002B2CF9AE}" pid="12" name="GVData1">
    <vt:lpwstr>IixcIjAyZjdmM2E2LWI3NWEtNDNhOS05ZWQ1LTY5ZTM2NmRlNDc1OVwiLFwiYjQ5NDg2ZDEtZGZkYS00YjM2LWIxMDEtOGYzZjQ1YjU4MzZjXCIsXCI5NjZiYTZlOC00ZTFhLTRkNTgtODcxMC04MjJjZGIwZDUxNmNcIixcIjg2NDE4Mjk2LWZmNTUtNDc4NC05Y2Jh</vt:lpwstr>
  </property>
  <property fmtid="{D5CDD505-2E9C-101B-9397-08002B2CF9AE}" pid="13" name="GVData2">
    <vt:lpwstr>LWM4Mjc3MGMwNzgzNFwiXSIsIndyaXR0ZW5LZXlzIjoiW1wiQ2xhc3NpZmljYXRpb25cIixcIkNsYXNzaWZpY2F0aW9uVGFnU2V0SWRcIixcIkNvbXBsaWFuY2VUYWdTZXRJZFwiLFwiRmlsZUlkXCIsXCJndmRvY2lkXCIsXCJUYWdEYXRlVGltZVwiLFwiVXNlcklk</vt:lpwstr>
  </property>
  <property fmtid="{D5CDD505-2E9C-101B-9397-08002B2CF9AE}" pid="14" name="GVData3">
    <vt:lpwstr>XCJdIiwibm9PZkd2RGF0YUVudHJpZXMiOiI1IiwibGluZUlkIjoiZDgxMTBmNGYtMDNjZS00OTA3LTllM2EtYWIwOTUyNmYwZGMwIiwidGFnc2V0X2UxNjQwOWE3XzE3MDBfNDE1M185MDkwXzM5NTViYzJmMGFlOF9jbGFzc2lmaWNhdGlvbiI6IlB1YmxpYyJ9</vt:lpwstr>
  </property>
</Properties>
</file>